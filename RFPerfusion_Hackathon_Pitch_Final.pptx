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09c135b233414a" /><Relationship Type="http://schemas.openxmlformats.org/officeDocument/2006/relationships/extended-properties" Target="/docProps/app.xml" Id="R4a2992e284c1473e" /><Relationship Type="http://schemas.openxmlformats.org/officeDocument/2006/relationships/officeDocument" Target="/ppt/presentation.xml" Id="R2223507f0f124aca" /></Relationships>
</file>

<file path=ppt/presentation.xml><?xml version="1.0" encoding="utf-8"?>
<p:presentation xmlns:p="http://schemas.openxmlformats.org/presentationml/2006/main">
  <p:sldMasterIdLst>
    <p:sldMasterId xmlns:r="http://schemas.openxmlformats.org/officeDocument/2006/relationships" id="2147483648" r:id="R4f8d7fbf354e425c"/>
  </p:sldMasterIdLst>
  <p:notesMasterIdLst>
    <p:notesMasterId xmlns:r="http://schemas.openxmlformats.org/officeDocument/2006/relationships" r:id="Re40c1fd376d5439c"/>
  </p:notesMasterIdLst>
  <p:sldIdLst>
    <p:sldId xmlns:r="http://schemas.openxmlformats.org/officeDocument/2006/relationships" id="256" r:id="R6c68ee948ad34d35"/>
    <p:sldId xmlns:r="http://schemas.openxmlformats.org/officeDocument/2006/relationships" id="257" r:id="R8a59ba4dccee4581"/>
    <p:sldId xmlns:r="http://schemas.openxmlformats.org/officeDocument/2006/relationships" id="258" r:id="R1eb54adb3959485a"/>
    <p:sldId xmlns:r="http://schemas.openxmlformats.org/officeDocument/2006/relationships" id="259" r:id="R0228a02ed70e41f0"/>
    <p:sldId xmlns:r="http://schemas.openxmlformats.org/officeDocument/2006/relationships" id="260" r:id="R3fdaff213ca941ac"/>
    <p:sldId xmlns:r="http://schemas.openxmlformats.org/officeDocument/2006/relationships" id="261" r:id="R49cd4b98319f4c89"/>
    <p:sldId xmlns:r="http://schemas.openxmlformats.org/officeDocument/2006/relationships" id="262" r:id="R49f635c497b641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f6dfa844ae4e5c" /><Relationship Type="http://schemas.openxmlformats.org/officeDocument/2006/relationships/slideMaster" Target="/ppt/slideMasters/slideMaster1.xml" Id="R4f8d7fbf354e425c" /><Relationship Type="http://schemas.openxmlformats.org/officeDocument/2006/relationships/notesMaster" Target="/ppt/notesMasters/notesMaster1.xml" Id="Re40c1fd376d5439c" /><Relationship Type="http://schemas.openxmlformats.org/officeDocument/2006/relationships/presProps" Target="/ppt/presProps.xml" Id="Rdca47c2e630e4fd1" /><Relationship Type="http://schemas.openxmlformats.org/officeDocument/2006/relationships/tableStyles" Target="/ppt/tableStyles.xml" Id="Rb14e314389644d18" /><Relationship Type="http://schemas.openxmlformats.org/officeDocument/2006/relationships/slide" Target="/ppt/slides/slide1.xml" Id="R6c68ee948ad34d35" /><Relationship Type="http://schemas.openxmlformats.org/officeDocument/2006/relationships/slide" Target="/ppt/slides/slide2.xml" Id="R8a59ba4dccee4581" /><Relationship Type="http://schemas.openxmlformats.org/officeDocument/2006/relationships/slide" Target="/ppt/slides/slide3.xml" Id="R1eb54adb3959485a" /><Relationship Type="http://schemas.openxmlformats.org/officeDocument/2006/relationships/slide" Target="/ppt/slides/slide4.xml" Id="R0228a02ed70e41f0" /><Relationship Type="http://schemas.openxmlformats.org/officeDocument/2006/relationships/slide" Target="/ppt/slides/slide5.xml" Id="R3fdaff213ca941ac" /><Relationship Type="http://schemas.openxmlformats.org/officeDocument/2006/relationships/slide" Target="/ppt/slides/slide6.xml" Id="R49cd4b98319f4c89" /><Relationship Type="http://schemas.openxmlformats.org/officeDocument/2006/relationships/slide" Target="/ppt/slides/slide7.xml" Id="R49f635c497b641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d7e55660b84d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79e4a372ec4391" /><Relationship Type="http://schemas.openxmlformats.org/officeDocument/2006/relationships/notesMaster" Target="/ppt/notesMasters/notesMaster1.xml" Id="Rab5749a2d7004f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1299bf3feb4880" /><Relationship Type="http://schemas.openxmlformats.org/officeDocument/2006/relationships/notesMaster" Target="/ppt/notesMasters/notesMaster1.xml" Id="R89256d652a4041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635c653b644f56" /><Relationship Type="http://schemas.openxmlformats.org/officeDocument/2006/relationships/notesMaster" Target="/ppt/notesMasters/notesMaster1.xml" Id="R4cdade8a91b040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7017b253404060" /><Relationship Type="http://schemas.openxmlformats.org/officeDocument/2006/relationships/notesMaster" Target="/ppt/notesMasters/notesMaster1.xml" Id="R9d1344d356d94e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14e42b6a3242f5" /><Relationship Type="http://schemas.openxmlformats.org/officeDocument/2006/relationships/notesMaster" Target="/ppt/notesMasters/notesMaster1.xml" Id="R75a87d4410c440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5e3e95a4774b5b" /><Relationship Type="http://schemas.openxmlformats.org/officeDocument/2006/relationships/notesMaster" Target="/ppt/notesMasters/notesMaster1.xml" Id="R70676ae3d47840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12e97b0e8a4e5d" /><Relationship Type="http://schemas.openxmlformats.org/officeDocument/2006/relationships/notesMaster" Target="/ppt/notesMasters/notesMaster1.xml" Id="R5c12cdc6d76747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hook exactly as written. Then broaden the reveal: RFPerfusion is not one verifier. It is a scientist-facing co-pilot that can formulate the question, mine the literature, and run biological models.</a:t>
            </a:r>
          </a:p>
          <a:p xmlns:a="http://schemas.openxmlformats.org/drawingml/2006/main">
            <a:r>
              <a:t/>
            </a:r>
          </a:p>
          <a:p xmlns:a="http://schemas.openxmlformats.org/drawingml/2006/main">
            <a:r>
              <a:t>[Sources]</a:t>
            </a:r>
          </a:p>
          <a:p xmlns:a="http://schemas.openxmlformats.org/drawingml/2006/main">
            <a:r>
              <a:t>- /Users/andrii/.codex/attachments/01cdc36c-dc20-482e-ac30-c04843db1a66/pasted-text.txt</a:t>
            </a:r>
          </a:p>
          <a:p xmlns:a="http://schemas.openxmlformats.org/drawingml/2006/main">
            <a:r>
              <a:t>- /Users/andrii/RFPerfusion/README.md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entire product in one slide. The scientist supplies a goal. The formulation agent proposes and ranks directions. The literature agent turns papers into evidence and usable artifacts. Proto-tools selects and runs computational biology models. The scientist controls every handoff.</a:t>
            </a:r>
          </a:p>
          <a:p xmlns:a="http://schemas.openxmlformats.org/drawingml/2006/main">
            <a:r>
              <a:t/>
            </a:r>
          </a:p>
          <a:p xmlns:a="http://schemas.openxmlformats.org/drawingml/2006/main">
            <a:r>
              <a:t>[Sources]</a:t>
            </a:r>
          </a:p>
          <a:p xmlns:a="http://schemas.openxmlformats.org/drawingml/2006/main">
            <a:r>
              <a:t>- /Users/andrii/.codex/attachments/01cdc36c-dc20-482e-ac30-c04843db1a66/pasted-text.txt</a:t>
            </a:r>
          </a:p>
          <a:p xmlns:a="http://schemas.openxmlformats.org/drawingml/2006/main">
            <a:r>
              <a:t>- /Users/andrii/RFPerfusion/.claude/skills/formulate-grounded-directions/SKILL.md</a:t>
            </a:r>
          </a:p>
          <a:p xmlns:a="http://schemas.openxmlformats.org/drawingml/2006/main">
            <a:r>
              <a:t>- /Users/andrii/RFPerfusion/.claude/skills/mine-literature-from-concept/SKILL.md</a:t>
            </a:r>
          </a:p>
          <a:p xmlns:a="http://schemas.openxmlformats.org/drawingml/2006/main">
            <a:r>
              <a:t>- /Users/andrii/RFPerfusion/.claude/skills/proto-tools/SKILL.md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formulation agent does not force a preferred mechanism. It expands the hypothesis space, decomposes directions into checkable claims, grounds them against full text, and ranks them. The scientist can drop a route, request a focused follow-up, supply priors, or ask for another iteration.</a:t>
            </a:r>
          </a:p>
          <a:p xmlns:a="http://schemas.openxmlformats.org/drawingml/2006/main">
            <a:r>
              <a:t/>
            </a:r>
          </a:p>
          <a:p xmlns:a="http://schemas.openxmlformats.org/drawingml/2006/main">
            <a:r>
              <a:t>[Sources]</a:t>
            </a:r>
          </a:p>
          <a:p xmlns:a="http://schemas.openxmlformats.org/drawingml/2006/main">
            <a:r>
              <a:t>- /Users/andrii/RFPerfusion/formulation_agent/README.md</a:t>
            </a:r>
          </a:p>
          <a:p xmlns:a="http://schemas.openxmlformats.org/drawingml/2006/main">
            <a:r>
              <a:t>- /Users/andrii/RFPerfusion/.claude/skills/formulate-grounded-directions/SKILL.md</a:t>
            </a:r>
          </a:p>
          <a:p xmlns:a="http://schemas.openxmlformats.org/drawingml/2006/main">
            <a:r>
              <a:t>- /Users/andrii/RFPerfusion/formulation_agent/src/formulation_agent/agent.py</a:t>
            </a:r>
          </a:p>
          <a:p xmlns:a="http://schemas.openxmlformats.org/drawingml/2006/main">
            <a:r>
              <a:t>- /Users/andrii/RFPerfusion/formulation_agent/src/formulation_agent/followup.py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literature agent first discovers documents, then searches exact full-text phrases, then extracts model-ready artifacts: sequences, accessions, mutations, and quantitative measurements. If the corpus is thin, biased, or missing sequences, the scientist can inspect the manifest and send the agent through another query loop. Discovery leads are not silently promoted to verified evidence.</a:t>
            </a:r>
          </a:p>
          <a:p xmlns:a="http://schemas.openxmlformats.org/drawingml/2006/main">
            <a:r>
              <a:t/>
            </a:r>
          </a:p>
          <a:p xmlns:a="http://schemas.openxmlformats.org/drawingml/2006/main">
            <a:r>
              <a:t>[Sources]</a:t>
            </a:r>
          </a:p>
          <a:p xmlns:a="http://schemas.openxmlformats.org/drawingml/2006/main">
            <a:r>
              <a:t>- /Users/andrii/RFPerfusion/.claude/skills/mine-literature-from-concept/SKILL.md</a:t>
            </a:r>
          </a:p>
          <a:p xmlns:a="http://schemas.openxmlformats.org/drawingml/2006/main">
            <a:r>
              <a:t>- /Users/andrii/RFPerfusion/litterature_search_from_concept/paperclip_kb.py</a:t>
            </a:r>
          </a:p>
          <a:p xmlns:a="http://schemas.openxmlformats.org/drawingml/2006/main">
            <a:r>
              <a:t>- /Users/andrii/.codex/attachments/01cdc36c-dc20-482e-ac30-c04843db1a66/pasted-text.txt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real result supplied by the team: the agent co-folded KRAS G12C with the ligand sotorasib. Proto-tools gives the LLM a unified interface to discover and launch computational biology models, return structured results, and preserve method attribution. This screenshot shows ligand ipTM 0.976 and pTM 0.928; those are model confidence outputs, not experimental validation.</a:t>
            </a:r>
          </a:p>
          <a:p xmlns:a="http://schemas.openxmlformats.org/drawingml/2006/main">
            <a:r>
              <a:t/>
            </a:r>
          </a:p>
          <a:p xmlns:a="http://schemas.openxmlformats.org/drawingml/2006/main">
            <a:r>
              <a:t>[Sources]</a:t>
            </a:r>
          </a:p>
          <a:p xmlns:a="http://schemas.openxmlformats.org/drawingml/2006/main">
            <a:r>
              <a:t>- /var/folders/yx/xfm2flr17rq_5l34_ckcgrjm0000gp/T/codex-clipboard-4c002890-1964-4ef9-bd59-bca386f85430.png</a:t>
            </a:r>
          </a:p>
          <a:p xmlns:a="http://schemas.openxmlformats.org/drawingml/2006/main">
            <a:r>
              <a:t>- /Users/andrii/RFPerfusion/.claude/skills/proto-tools/SKILL.md</a:t>
            </a:r>
          </a:p>
          <a:p xmlns:a="http://schemas.openxmlformats.org/drawingml/2006/main">
            <a:r>
              <a:t>- /Users/andrii/.codex/attachments/01cdc36c-dc20-482e-ac30-c04843db1a66/pasted-text.txt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scientist is never reduced to a prompt. They shape the objective, inspect evidence and extracted artifacts, approve or redirect computational work, and review every returned structure or score. The full path—from question to query to paper to model job to result—remains visible and reproducible.</a:t>
            </a:r>
          </a:p>
          <a:p xmlns:a="http://schemas.openxmlformats.org/drawingml/2006/main">
            <a:r>
              <a:t/>
            </a:r>
          </a:p>
          <a:p xmlns:a="http://schemas.openxmlformats.org/drawingml/2006/main">
            <a:r>
              <a:t>[Sources]</a:t>
            </a:r>
          </a:p>
          <a:p xmlns:a="http://schemas.openxmlformats.org/drawingml/2006/main">
            <a:r>
              <a:t>- /Users/andrii/.codex/attachments/01cdc36c-dc20-482e-ac30-c04843db1a66/pasted-text.txt</a:t>
            </a:r>
          </a:p>
          <a:p xmlns:a="http://schemas.openxmlformats.org/drawingml/2006/main">
            <a:r>
              <a:t>- /Users/andrii/RFPerfusion/.claude/skills/formulate-grounded-directions/SKILL.md</a:t>
            </a:r>
          </a:p>
          <a:p xmlns:a="http://schemas.openxmlformats.org/drawingml/2006/main">
            <a:r>
              <a:t>- /Users/andrii/RFPerfusion/.claude/skills/mine-literature-from-concept/SKILL.md</a:t>
            </a:r>
          </a:p>
          <a:p xmlns:a="http://schemas.openxmlformats.org/drawingml/2006/main">
            <a:r>
              <a:t>- /Users/andrii/RFPerfusion/.claude/skills/proto-tools/SKILL.md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combined capability. RFPerfusion helps a scientist move from an underspecified biological goal to evidence-backed routes, reusable literature artifacts, and computational model outputs—without surrendering scientific judgment.</a:t>
            </a:r>
          </a:p>
          <a:p xmlns:a="http://schemas.openxmlformats.org/drawingml/2006/main">
            <a:r>
              <a:t/>
            </a:r>
          </a:p>
          <a:p xmlns:a="http://schemas.openxmlformats.org/drawingml/2006/main">
            <a:r>
              <a:t>[Sources]</a:t>
            </a:r>
          </a:p>
          <a:p xmlns:a="http://schemas.openxmlformats.org/drawingml/2006/main">
            <a:r>
              <a:t>- /Users/andrii/.codex/attachments/01cdc36c-dc20-482e-ac30-c04843db1a66/pasted-text.txt</a:t>
            </a:r>
          </a:p>
          <a:p xmlns:a="http://schemas.openxmlformats.org/drawingml/2006/main">
            <a:r>
              <a:t>- /Users/andrii/RFPerfusion/README.md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049f51d99240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4ebc731c654743" /><Relationship Type="http://schemas.openxmlformats.org/officeDocument/2006/relationships/slideLayout" Target="/ppt/slideLayouts/slideLayout1.xml" Id="Rf14e93e7411a4b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4e93e7411a4b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ed4630c4cf4a08" /><Relationship Type="http://schemas.openxmlformats.org/officeDocument/2006/relationships/notesSlide" Target="/ppt/notesSlides/notesSlide1.xml" Id="R8d00c023c3fe4c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e910788b8c4290" /><Relationship Type="http://schemas.openxmlformats.org/officeDocument/2006/relationships/notesSlide" Target="/ppt/notesSlides/notesSlide2.xml" Id="Re19b269d949c4c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119e5722644a27" /><Relationship Type="http://schemas.openxmlformats.org/officeDocument/2006/relationships/notesSlide" Target="/ppt/notesSlides/notesSlide3.xml" Id="Rbd8f0e8aafaf49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4d2d741ef6446c" /><Relationship Type="http://schemas.openxmlformats.org/officeDocument/2006/relationships/notesSlide" Target="/ppt/notesSlides/notesSlide4.xml" Id="Rd71d0411bb0c41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b02e8d2adc4690" /><Relationship Type="http://schemas.openxmlformats.org/officeDocument/2006/relationships/image" Target="/ppt/media/image.png" Id="R7214de6510c04241" /><Relationship Type="http://schemas.openxmlformats.org/officeDocument/2006/relationships/notesSlide" Target="/ppt/notesSlides/notesSlide5.xml" Id="R3610aadd5c9945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0cc6ff931947d4" /><Relationship Type="http://schemas.openxmlformats.org/officeDocument/2006/relationships/notesSlide" Target="/ppt/notesSlides/notesSlide6.xml" Id="Rae7d05de42ab42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c5e99ddbdb6490d" /><Relationship Type="http://schemas.openxmlformats.org/officeDocument/2006/relationships/notesSlide" Target="/ppt/notesSlides/notesSlide7.xml" Id="Rf105b5d3f7ef404c" /></Relationships>
</file>

<file path=ppt/slides/slide1.xml><?xml version="1.0" encoding="utf-8"?>
<p:sld xmlns:p="http://schemas.openxmlformats.org/presentationml/2006/main">
  <p:cSld>
    <p:bg>
      <p:bgPr>
        <a:solidFill xmlns:a="http://schemas.openxmlformats.org/drawingml/2006/main">
          <a:srgbClr val="171A1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F6D5CC-F686-4C59-82BB-EF76C94D6357}"/>
              </a:ext>
            </a:extLst>
          </p:cNvPr>
          <p:cNvSpPr>
            <a:spLocks xmlns:a="http://schemas.openxmlformats.org/drawingml/2006/main" noGrp="1"/>
          </p:cNvSpPr>
          <p:nvPr/>
        </p:nvSpPr>
        <p:spPr>
          <a:xfrm xmlns:a="http://schemas.openxmlformats.org/drawingml/2006/main">
            <a:off x="419100" y="38100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8CC6BD"/>
                </a:solidFill>
                <a:latin typeface="Helvetica Neue"/>
                <a:ea typeface="Helvetica Neue"/>
                <a:cs typeface="Helvetica Neue"/>
              </a:defRPr>
            </a:pPr>
            <a:r>
              <a:rPr sz="1200" b="1">
                <a:solidFill>
                  <a:srgbClr val="8CC6BD"/>
                </a:solidFill>
                <a:latin typeface="Helvetica Neue"/>
                <a:ea typeface="Helvetica Neue"/>
                <a:cs typeface="Helvetica Neue"/>
              </a:rPr>
              <a:t>RFPerfusion  ·  re:AGENT Hackathon  ·  Track C</a:t>
            </a:r>
          </a:p>
        </p:txBody>
      </p:sp>
      <p:sp>
        <p:nvSpPr>
          <p:cNvPr id="2" name="cover-title">
            <a:extLst xmlns:a="http://schemas.openxmlformats.org/drawingml/2006/main">
              <a:ext uri="{FF2B5EF4-FFF2-40B4-BE49-F238E27FC236}">
                <a16:creationId xmlns:a16="http://schemas.microsoft.com/office/drawing/2014/main" id="{A642A45B-EDDD-4AAF-8607-E09DA2057AEF}"/>
              </a:ext>
            </a:extLst>
          </p:cNvPr>
          <p:cNvSpPr>
            <a:spLocks xmlns:a="http://schemas.openxmlformats.org/drawingml/2006/main" noGrp="1"/>
          </p:cNvSpPr>
          <p:nvPr/>
        </p:nvSpPr>
        <p:spPr>
          <a:xfrm xmlns:a="http://schemas.openxmlformats.org/drawingml/2006/main">
            <a:off x="419100" y="1485900"/>
            <a:ext cx="952500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5250" b="1">
                <a:solidFill>
                  <a:srgbClr val="FFFFFF"/>
                </a:solidFill>
                <a:latin typeface="Helvetica Neue"/>
                <a:ea typeface="Helvetica Neue"/>
                <a:cs typeface="Helvetica Neue"/>
              </a:defRPr>
            </a:pPr>
            <a:r>
              <a:rPr sz="5250" b="1">
                <a:solidFill>
                  <a:srgbClr val="FFFFFF"/>
                </a:solidFill>
                <a:latin typeface="Helvetica Neue"/>
                <a:ea typeface="Helvetica Neue"/>
                <a:cs typeface="Helvetica Neue"/>
              </a:rPr>
              <a:t>We asked AI to design</a:t>
            </a:r>
          </a:p>
          <a:p xmlns:a="http://schemas.openxmlformats.org/drawingml/2006/main">
            <a:pPr algn="l">
              <a:buNone/>
              <a:defRPr sz="5250" b="1">
                <a:solidFill>
                  <a:srgbClr val="FFFFFF"/>
                </a:solidFill>
                <a:latin typeface="Helvetica Neue"/>
                <a:ea typeface="Helvetica Neue"/>
                <a:cs typeface="Helvetica Neue"/>
              </a:defRPr>
            </a:pPr>
            <a:r>
              <a:rPr sz="5250" b="1">
                <a:solidFill>
                  <a:srgbClr val="FFFFFF"/>
                </a:solidFill>
                <a:latin typeface="Helvetica Neue"/>
                <a:ea typeface="Helvetica Neue"/>
                <a:cs typeface="Helvetica Neue"/>
              </a:rPr>
              <a:t>an impossible protein.</a:t>
            </a:r>
          </a:p>
        </p:txBody>
      </p:sp>
      <p:sp>
        <p:nvSpPr>
          <p:cNvPr id="3" name="">
            <a:extLst xmlns:a="http://schemas.openxmlformats.org/drawingml/2006/main">
              <a:ext uri="{FF2B5EF4-FFF2-40B4-BE49-F238E27FC236}">
                <a16:creationId xmlns:a16="http://schemas.microsoft.com/office/drawing/2014/main" id="{0F9EC402-6FB3-4371-AD4B-FA1E76D524E5}"/>
              </a:ext>
            </a:extLst>
          </p:cNvPr>
          <p:cNvSpPr>
            <a:spLocks xmlns:a="http://schemas.openxmlformats.org/drawingml/2006/main" noGrp="1"/>
          </p:cNvSpPr>
          <p:nvPr/>
        </p:nvSpPr>
        <p:spPr>
          <a:xfrm xmlns:a="http://schemas.openxmlformats.org/drawingml/2006/main">
            <a:off x="419100" y="3543300"/>
            <a:ext cx="8191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650" b="1">
                <a:solidFill>
                  <a:srgbClr val="71B8AF"/>
                </a:solidFill>
                <a:latin typeface="Helvetica Neue"/>
                <a:ea typeface="Helvetica Neue"/>
                <a:cs typeface="Helvetica Neue"/>
              </a:defRPr>
            </a:pPr>
            <a:r>
              <a:rPr sz="4650" b="1">
                <a:solidFill>
                  <a:srgbClr val="71B8AF"/>
                </a:solidFill>
                <a:latin typeface="Helvetica Neue"/>
                <a:ea typeface="Helvetica Neue"/>
                <a:cs typeface="Helvetica Neue"/>
              </a:rPr>
              <a:t>It tried anyway.</a:t>
            </a:r>
          </a:p>
        </p:txBody>
      </p:sp>
      <p:sp>
        <p:nvSpPr>
          <p:cNvPr id="4" name="">
            <a:extLst xmlns:a="http://schemas.openxmlformats.org/drawingml/2006/main">
              <a:ext uri="{FF2B5EF4-FFF2-40B4-BE49-F238E27FC236}">
                <a16:creationId xmlns:a16="http://schemas.microsoft.com/office/drawing/2014/main" id="{1D154CF1-FAAA-44C0-B225-152F5BFB6749}"/>
              </a:ext>
            </a:extLst>
          </p:cNvPr>
          <p:cNvSpPr>
            <a:spLocks xmlns:a="http://schemas.openxmlformats.org/drawingml/2006/main" noGrp="1"/>
          </p:cNvSpPr>
          <p:nvPr/>
        </p:nvSpPr>
        <p:spPr>
          <a:xfrm xmlns:a="http://schemas.openxmlformats.org/drawingml/2006/main">
            <a:off x="419100" y="4953000"/>
            <a:ext cx="11353800" cy="0"/>
          </a:xfrm>
          <a:prstGeom xmlns:a="http://schemas.openxmlformats.org/drawingml/2006/main" prst="line">
            <a:avLst/>
          </a:prstGeom>
          <a:noFill xmlns:a="http://schemas.openxmlformats.org/drawingml/2006/main"/>
          <a:ln xmlns:a="http://schemas.openxmlformats.org/drawingml/2006/main" w="9525">
            <a:solidFill>
              <a:srgbClr val="4A514D"/>
            </a:solidFill>
            <a:prstDash val="solid"/>
          </a:ln>
        </p:spPr>
      </p:sp>
      <p:sp>
        <p:nvSpPr>
          <p:cNvPr id="5" name="">
            <a:extLst xmlns:a="http://schemas.openxmlformats.org/drawingml/2006/main">
              <a:ext uri="{FF2B5EF4-FFF2-40B4-BE49-F238E27FC236}">
                <a16:creationId xmlns:a16="http://schemas.microsoft.com/office/drawing/2014/main" id="{6A5746DC-4022-4939-ACD8-294917C5F82E}"/>
              </a:ext>
            </a:extLst>
          </p:cNvPr>
          <p:cNvSpPr>
            <a:spLocks xmlns:a="http://schemas.openxmlformats.org/drawingml/2006/main" noGrp="1"/>
          </p:cNvSpPr>
          <p:nvPr/>
        </p:nvSpPr>
        <p:spPr>
          <a:xfrm xmlns:a="http://schemas.openxmlformats.org/drawingml/2006/main">
            <a:off x="419100" y="5314950"/>
            <a:ext cx="990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a:solidFill>
                  <a:srgbClr val="D5DAD6"/>
                </a:solidFill>
                <a:latin typeface="Helvetica Neue"/>
                <a:ea typeface="Helvetica Neue"/>
                <a:cs typeface="Helvetica Neue"/>
              </a:defRPr>
            </a:pPr>
            <a:r>
              <a:rPr sz="1950" b="0">
                <a:solidFill>
                  <a:srgbClr val="D5DAD6"/>
                </a:solidFill>
                <a:latin typeface="Helvetica Neue"/>
                <a:ea typeface="Helvetica Neue"/>
                <a:cs typeface="Helvetica Neue"/>
              </a:rPr>
              <a:t>A scientist-controlled agent that turns impossible biological questions into evidence, models, and candidate designs.</a:t>
            </a:r>
          </a:p>
        </p:txBody>
      </p:sp>
      <p:sp>
        <p:nvSpPr>
          <p:cNvPr id="6" name="">
            <a:extLst xmlns:a="http://schemas.openxmlformats.org/drawingml/2006/main">
              <a:ext uri="{FF2B5EF4-FFF2-40B4-BE49-F238E27FC236}">
                <a16:creationId xmlns:a16="http://schemas.microsoft.com/office/drawing/2014/main" id="{2989CEAA-4740-41B5-A842-62D4116EA686}"/>
              </a:ext>
            </a:extLst>
          </p:cNvPr>
          <p:cNvSpPr>
            <a:spLocks xmlns:a="http://schemas.openxmlformats.org/drawingml/2006/main" noGrp="1"/>
          </p:cNvSpPr>
          <p:nvPr/>
        </p:nvSpPr>
        <p:spPr>
          <a:xfrm xmlns:a="http://schemas.openxmlformats.org/drawingml/2006/main">
            <a:off x="11258550" y="61912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89908B"/>
                </a:solidFill>
                <a:latin typeface="Helvetica Neue"/>
                <a:ea typeface="Helvetica Neue"/>
                <a:cs typeface="Helvetica Neue"/>
              </a:defRPr>
            </a:pPr>
            <a:r>
              <a:rPr sz="1050" b="0">
                <a:solidFill>
                  <a:srgbClr val="89908B"/>
                </a:solidFill>
                <a:latin typeface="Helvetica Neue"/>
                <a:ea typeface="Helvetica Neue"/>
                <a:cs typeface="Helvetica Neue"/>
              </a:rPr>
              <a:t>01</a:t>
            </a:r>
          </a:p>
        </p:txBody>
      </p:sp>
    </p:spTree>
    <p:extLst>
      <p:ext uri="{BB962C8B-B14F-4D97-AF65-F5344CB8AC3E}">
        <p14:creationId xmlns:p14="http://schemas.microsoft.com/office/powerpoint/2010/main" val="123773606"/>
      </p:ext>
    </p:extLst>
  </p:cSld>
</p:sld>
</file>

<file path=ppt/slides/slide2.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D126E50-74BF-4A2C-920A-42AAFCAAEFBC}"/>
              </a:ext>
            </a:extLst>
          </p:cNvPr>
          <p:cNvSpPr>
            <a:spLocks xmlns:a="http://schemas.openxmlformats.org/drawingml/2006/main" noGrp="1"/>
          </p:cNvSpPr>
          <p:nvPr/>
        </p:nvSpPr>
        <p:spPr>
          <a:xfrm xmlns:a="http://schemas.openxmlformats.org/drawingml/2006/main">
            <a:off x="419100" y="2286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F6F6B"/>
                </a:solidFill>
                <a:latin typeface="Helvetica Neue"/>
                <a:ea typeface="Helvetica Neue"/>
                <a:cs typeface="Helvetica Neue"/>
              </a:defRPr>
            </a:pPr>
            <a:r>
              <a:rPr sz="1050" b="1">
                <a:solidFill>
                  <a:srgbClr val="2F6F6B"/>
                </a:solidFill>
                <a:latin typeface="Helvetica Neue"/>
                <a:ea typeface="Helvetica Neue"/>
                <a:cs typeface="Helvetica Neue"/>
              </a:rPr>
              <a:t>THE AGENT</a:t>
            </a:r>
          </a:p>
        </p:txBody>
      </p:sp>
      <p:sp>
        <p:nvSpPr>
          <p:cNvPr id="2" name="">
            <a:extLst xmlns:a="http://schemas.openxmlformats.org/drawingml/2006/main">
              <a:ext uri="{FF2B5EF4-FFF2-40B4-BE49-F238E27FC236}">
                <a16:creationId xmlns:a16="http://schemas.microsoft.com/office/drawing/2014/main" id="{76F64DF3-1C2F-4C9B-80A8-E7A078A73CE8}"/>
              </a:ext>
            </a:extLst>
          </p:cNvPr>
          <p:cNvSpPr>
            <a:spLocks xmlns:a="http://schemas.openxmlformats.org/drawingml/2006/main" noGrp="1"/>
          </p:cNvSpPr>
          <p:nvPr/>
        </p:nvSpPr>
        <p:spPr>
          <a:xfrm xmlns:a="http://schemas.openxmlformats.org/drawingml/2006/main">
            <a:off x="112585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676C68"/>
                </a:solidFill>
                <a:latin typeface="Helvetica Neue"/>
                <a:ea typeface="Helvetica Neue"/>
                <a:cs typeface="Helvetica Neue"/>
              </a:defRPr>
            </a:pPr>
            <a:r>
              <a:rPr sz="1050" b="0">
                <a:solidFill>
                  <a:srgbClr val="676C68"/>
                </a:solidFill>
                <a:latin typeface="Helvetica Neue"/>
                <a:ea typeface="Helvetica Neue"/>
                <a:cs typeface="Helvetica Neue"/>
              </a:rPr>
              <a:t>02</a:t>
            </a:r>
          </a:p>
        </p:txBody>
      </p:sp>
      <p:sp>
        <p:nvSpPr>
          <p:cNvPr id="3" name="slide-2-title">
            <a:extLst xmlns:a="http://schemas.openxmlformats.org/drawingml/2006/main">
              <a:ext uri="{FF2B5EF4-FFF2-40B4-BE49-F238E27FC236}">
                <a16:creationId xmlns:a16="http://schemas.microsoft.com/office/drawing/2014/main" id="{20341C32-3478-4187-AFBB-F60B80E578ED}"/>
              </a:ext>
            </a:extLst>
          </p:cNvPr>
          <p:cNvSpPr>
            <a:spLocks xmlns:a="http://schemas.openxmlformats.org/drawingml/2006/main" noGrp="1"/>
          </p:cNvSpPr>
          <p:nvPr/>
        </p:nvSpPr>
        <p:spPr>
          <a:xfrm xmlns:a="http://schemas.openxmlformats.org/drawingml/2006/main">
            <a:off x="419100" y="552450"/>
            <a:ext cx="11353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a:solidFill>
                  <a:srgbClr val="171A18"/>
                </a:solidFill>
                <a:latin typeface="Helvetica Neue"/>
                <a:ea typeface="Helvetica Neue"/>
                <a:cs typeface="Helvetica Neue"/>
              </a:defRPr>
            </a:pPr>
            <a:r>
              <a:rPr sz="3450" b="1">
                <a:solidFill>
                  <a:srgbClr val="171A18"/>
                </a:solidFill>
                <a:latin typeface="Helvetica Neue"/>
                <a:ea typeface="Helvetica Neue"/>
                <a:cs typeface="Helvetica Neue"/>
              </a:rPr>
              <a:t>One scientist. Three coordinated scientific agents.</a:t>
            </a:r>
          </a:p>
        </p:txBody>
      </p:sp>
      <p:sp>
        <p:nvSpPr>
          <p:cNvPr id="4" name="">
            <a:extLst xmlns:a="http://schemas.openxmlformats.org/drawingml/2006/main">
              <a:ext uri="{FF2B5EF4-FFF2-40B4-BE49-F238E27FC236}">
                <a16:creationId xmlns:a16="http://schemas.microsoft.com/office/drawing/2014/main" id="{0014F760-CF39-46E1-AEB8-143FB02357B4}"/>
              </a:ext>
            </a:extLst>
          </p:cNvPr>
          <p:cNvSpPr>
            <a:spLocks xmlns:a="http://schemas.openxmlformats.org/drawingml/2006/main" noGrp="1"/>
          </p:cNvSpPr>
          <p:nvPr/>
        </p:nvSpPr>
        <p:spPr>
          <a:xfrm xmlns:a="http://schemas.openxmlformats.org/drawingml/2006/main">
            <a:off x="457200" y="19812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F6F6B"/>
                </a:solidFill>
                <a:latin typeface="Helvetica Neue"/>
                <a:ea typeface="Helvetica Neue"/>
                <a:cs typeface="Helvetica Neue"/>
              </a:defRPr>
            </a:pPr>
            <a:r>
              <a:rPr sz="1125" b="1">
                <a:solidFill>
                  <a:srgbClr val="2F6F6B"/>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8AA0E56F-3F27-44AA-9A43-FA62666DA4F4}"/>
              </a:ext>
            </a:extLst>
          </p:cNvPr>
          <p:cNvSpPr>
            <a:spLocks xmlns:a="http://schemas.openxmlformats.org/drawingml/2006/main" noGrp="1"/>
          </p:cNvSpPr>
          <p:nvPr/>
        </p:nvSpPr>
        <p:spPr>
          <a:xfrm xmlns:a="http://schemas.openxmlformats.org/drawingml/2006/main">
            <a:off x="457200" y="24765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71A18"/>
                </a:solidFill>
                <a:latin typeface="Helvetica Neue"/>
                <a:ea typeface="Helvetica Neue"/>
                <a:cs typeface="Helvetica Neue"/>
              </a:defRPr>
            </a:pPr>
            <a:r>
              <a:rPr sz="1500" b="1">
                <a:solidFill>
                  <a:srgbClr val="171A18"/>
                </a:solidFill>
                <a:latin typeface="Helvetica Neue"/>
                <a:ea typeface="Helvetica Neue"/>
                <a:cs typeface="Helvetica Neue"/>
              </a:rPr>
              <a:t>ASK</a:t>
            </a:r>
          </a:p>
        </p:txBody>
      </p:sp>
      <p:sp>
        <p:nvSpPr>
          <p:cNvPr id="6" name="">
            <a:extLst xmlns:a="http://schemas.openxmlformats.org/drawingml/2006/main">
              <a:ext uri="{FF2B5EF4-FFF2-40B4-BE49-F238E27FC236}">
                <a16:creationId xmlns:a16="http://schemas.microsoft.com/office/drawing/2014/main" id="{A099D3BE-4C15-454D-935A-CABCE1989DF6}"/>
              </a:ext>
            </a:extLst>
          </p:cNvPr>
          <p:cNvSpPr>
            <a:spLocks xmlns:a="http://schemas.openxmlformats.org/drawingml/2006/main" noGrp="1"/>
          </p:cNvSpPr>
          <p:nvPr/>
        </p:nvSpPr>
        <p:spPr>
          <a:xfrm xmlns:a="http://schemas.openxmlformats.org/drawingml/2006/main">
            <a:off x="457200" y="2971800"/>
            <a:ext cx="2324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676C68"/>
                </a:solidFill>
                <a:latin typeface="Helvetica Neue"/>
                <a:ea typeface="Helvetica Neue"/>
                <a:cs typeface="Helvetica Neue"/>
              </a:defRPr>
            </a:pPr>
            <a:r>
              <a:rPr sz="1800" b="0">
                <a:solidFill>
                  <a:srgbClr val="676C68"/>
                </a:solidFill>
                <a:latin typeface="Helvetica Neue"/>
                <a:ea typeface="Helvetica Neue"/>
                <a:cs typeface="Helvetica Neue"/>
              </a:rPr>
              <a:t>A biological design goal</a:t>
            </a:r>
          </a:p>
        </p:txBody>
      </p:sp>
      <p:sp>
        <p:nvSpPr>
          <p:cNvPr id="7" name="">
            <a:extLst xmlns:a="http://schemas.openxmlformats.org/drawingml/2006/main">
              <a:ext uri="{FF2B5EF4-FFF2-40B4-BE49-F238E27FC236}">
                <a16:creationId xmlns:a16="http://schemas.microsoft.com/office/drawing/2014/main" id="{10CFC8A2-8699-4AC9-BD24-76DC97726229}"/>
              </a:ext>
            </a:extLst>
          </p:cNvPr>
          <p:cNvSpPr>
            <a:spLocks xmlns:a="http://schemas.openxmlformats.org/drawingml/2006/main" noGrp="1"/>
          </p:cNvSpPr>
          <p:nvPr/>
        </p:nvSpPr>
        <p:spPr>
          <a:xfrm xmlns:a="http://schemas.openxmlformats.org/drawingml/2006/main">
            <a:off x="2790825" y="268605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250" b="1">
                <a:solidFill>
                  <a:srgbClr val="A7ACA8"/>
                </a:solidFill>
                <a:latin typeface="Helvetica Neue"/>
                <a:ea typeface="Helvetica Neue"/>
                <a:cs typeface="Helvetica Neue"/>
              </a:defRPr>
            </a:pPr>
            <a:r>
              <a:rPr sz="2250" b="1">
                <a:solidFill>
                  <a:srgbClr val="A7ACA8"/>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0DB27D9E-362B-4991-95DE-8AA14396A9A8}"/>
              </a:ext>
            </a:extLst>
          </p:cNvPr>
          <p:cNvSpPr>
            <a:spLocks xmlns:a="http://schemas.openxmlformats.org/drawingml/2006/main" noGrp="1"/>
          </p:cNvSpPr>
          <p:nvPr/>
        </p:nvSpPr>
        <p:spPr>
          <a:xfrm xmlns:a="http://schemas.openxmlformats.org/drawingml/2006/main">
            <a:off x="3314700" y="19812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F6F6B"/>
                </a:solidFill>
                <a:latin typeface="Helvetica Neue"/>
                <a:ea typeface="Helvetica Neue"/>
                <a:cs typeface="Helvetica Neue"/>
              </a:defRPr>
            </a:pPr>
            <a:r>
              <a:rPr sz="1125" b="1">
                <a:solidFill>
                  <a:srgbClr val="2F6F6B"/>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3B41A5CE-F1DA-49E6-99F7-D09801AAF3DF}"/>
              </a:ext>
            </a:extLst>
          </p:cNvPr>
          <p:cNvSpPr>
            <a:spLocks xmlns:a="http://schemas.openxmlformats.org/drawingml/2006/main" noGrp="1"/>
          </p:cNvSpPr>
          <p:nvPr/>
        </p:nvSpPr>
        <p:spPr>
          <a:xfrm xmlns:a="http://schemas.openxmlformats.org/drawingml/2006/main">
            <a:off x="3314700" y="24765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71A18"/>
                </a:solidFill>
                <a:latin typeface="Helvetica Neue"/>
                <a:ea typeface="Helvetica Neue"/>
                <a:cs typeface="Helvetica Neue"/>
              </a:defRPr>
            </a:pPr>
            <a:r>
              <a:rPr sz="1500" b="1">
                <a:solidFill>
                  <a:srgbClr val="171A18"/>
                </a:solidFill>
                <a:latin typeface="Helvetica Neue"/>
                <a:ea typeface="Helvetica Neue"/>
                <a:cs typeface="Helvetica Neue"/>
              </a:rPr>
              <a:t>FORMULATE</a:t>
            </a:r>
          </a:p>
        </p:txBody>
      </p:sp>
      <p:sp>
        <p:nvSpPr>
          <p:cNvPr id="10" name="">
            <a:extLst xmlns:a="http://schemas.openxmlformats.org/drawingml/2006/main">
              <a:ext uri="{FF2B5EF4-FFF2-40B4-BE49-F238E27FC236}">
                <a16:creationId xmlns:a16="http://schemas.microsoft.com/office/drawing/2014/main" id="{5BB44BEE-0A50-486A-B4F7-56E22402966A}"/>
              </a:ext>
            </a:extLst>
          </p:cNvPr>
          <p:cNvSpPr>
            <a:spLocks xmlns:a="http://schemas.openxmlformats.org/drawingml/2006/main" noGrp="1"/>
          </p:cNvSpPr>
          <p:nvPr/>
        </p:nvSpPr>
        <p:spPr>
          <a:xfrm xmlns:a="http://schemas.openxmlformats.org/drawingml/2006/main">
            <a:off x="3314700" y="2971800"/>
            <a:ext cx="2324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676C68"/>
                </a:solidFill>
                <a:latin typeface="Helvetica Neue"/>
                <a:ea typeface="Helvetica Neue"/>
                <a:cs typeface="Helvetica Neue"/>
              </a:defRPr>
            </a:pPr>
            <a:r>
              <a:rPr sz="1800" b="0">
                <a:solidFill>
                  <a:srgbClr val="676C68"/>
                </a:solidFill>
                <a:latin typeface="Helvetica Neue"/>
                <a:ea typeface="Helvetica Neue"/>
                <a:cs typeface="Helvetica Neue"/>
              </a:rPr>
              <a:t>Rank testable directions</a:t>
            </a:r>
          </a:p>
        </p:txBody>
      </p:sp>
      <p:sp>
        <p:nvSpPr>
          <p:cNvPr id="11" name="">
            <a:extLst xmlns:a="http://schemas.openxmlformats.org/drawingml/2006/main">
              <a:ext uri="{FF2B5EF4-FFF2-40B4-BE49-F238E27FC236}">
                <a16:creationId xmlns:a16="http://schemas.microsoft.com/office/drawing/2014/main" id="{23E66C59-0D49-456B-A669-EF594CACFB08}"/>
              </a:ext>
            </a:extLst>
          </p:cNvPr>
          <p:cNvSpPr>
            <a:spLocks xmlns:a="http://schemas.openxmlformats.org/drawingml/2006/main" noGrp="1"/>
          </p:cNvSpPr>
          <p:nvPr/>
        </p:nvSpPr>
        <p:spPr>
          <a:xfrm xmlns:a="http://schemas.openxmlformats.org/drawingml/2006/main">
            <a:off x="5648325" y="268605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250" b="1">
                <a:solidFill>
                  <a:srgbClr val="A7ACA8"/>
                </a:solidFill>
                <a:latin typeface="Helvetica Neue"/>
                <a:ea typeface="Helvetica Neue"/>
                <a:cs typeface="Helvetica Neue"/>
              </a:defRPr>
            </a:pPr>
            <a:r>
              <a:rPr sz="2250" b="1">
                <a:solidFill>
                  <a:srgbClr val="A7ACA8"/>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A9C32BB1-B6B3-411B-B6BB-30A3457D8EF7}"/>
              </a:ext>
            </a:extLst>
          </p:cNvPr>
          <p:cNvSpPr>
            <a:spLocks xmlns:a="http://schemas.openxmlformats.org/drawingml/2006/main" noGrp="1"/>
          </p:cNvSpPr>
          <p:nvPr/>
        </p:nvSpPr>
        <p:spPr>
          <a:xfrm xmlns:a="http://schemas.openxmlformats.org/drawingml/2006/main">
            <a:off x="6172200" y="19812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F6F6B"/>
                </a:solidFill>
                <a:latin typeface="Helvetica Neue"/>
                <a:ea typeface="Helvetica Neue"/>
                <a:cs typeface="Helvetica Neue"/>
              </a:defRPr>
            </a:pPr>
            <a:r>
              <a:rPr sz="1125" b="1">
                <a:solidFill>
                  <a:srgbClr val="2F6F6B"/>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4CFE27C9-06F1-491A-8383-55D17ED84BEE}"/>
              </a:ext>
            </a:extLst>
          </p:cNvPr>
          <p:cNvSpPr>
            <a:spLocks xmlns:a="http://schemas.openxmlformats.org/drawingml/2006/main" noGrp="1"/>
          </p:cNvSpPr>
          <p:nvPr/>
        </p:nvSpPr>
        <p:spPr>
          <a:xfrm xmlns:a="http://schemas.openxmlformats.org/drawingml/2006/main">
            <a:off x="6172200" y="24765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71A18"/>
                </a:solidFill>
                <a:latin typeface="Helvetica Neue"/>
                <a:ea typeface="Helvetica Neue"/>
                <a:cs typeface="Helvetica Neue"/>
              </a:defRPr>
            </a:pPr>
            <a:r>
              <a:rPr sz="1500" b="1">
                <a:solidFill>
                  <a:srgbClr val="171A18"/>
                </a:solidFill>
                <a:latin typeface="Helvetica Neue"/>
                <a:ea typeface="Helvetica Neue"/>
                <a:cs typeface="Helvetica Neue"/>
              </a:rPr>
              <a:t>MINE</a:t>
            </a:r>
          </a:p>
        </p:txBody>
      </p:sp>
      <p:sp>
        <p:nvSpPr>
          <p:cNvPr id="14" name="">
            <a:extLst xmlns:a="http://schemas.openxmlformats.org/drawingml/2006/main">
              <a:ext uri="{FF2B5EF4-FFF2-40B4-BE49-F238E27FC236}">
                <a16:creationId xmlns:a16="http://schemas.microsoft.com/office/drawing/2014/main" id="{12E5F018-DCEB-447D-AC43-B56F3CAE4021}"/>
              </a:ext>
            </a:extLst>
          </p:cNvPr>
          <p:cNvSpPr>
            <a:spLocks xmlns:a="http://schemas.openxmlformats.org/drawingml/2006/main" noGrp="1"/>
          </p:cNvSpPr>
          <p:nvPr/>
        </p:nvSpPr>
        <p:spPr>
          <a:xfrm xmlns:a="http://schemas.openxmlformats.org/drawingml/2006/main">
            <a:off x="6172200" y="2971800"/>
            <a:ext cx="2324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676C68"/>
                </a:solidFill>
                <a:latin typeface="Helvetica Neue"/>
                <a:ea typeface="Helvetica Neue"/>
                <a:cs typeface="Helvetica Neue"/>
              </a:defRPr>
            </a:pPr>
            <a:r>
              <a:rPr sz="1800" b="0">
                <a:solidFill>
                  <a:srgbClr val="676C68"/>
                </a:solidFill>
                <a:latin typeface="Helvetica Neue"/>
                <a:ea typeface="Helvetica Neue"/>
                <a:cs typeface="Helvetica Neue"/>
              </a:rPr>
              <a:t>Extract evidence + artifacts</a:t>
            </a:r>
          </a:p>
        </p:txBody>
      </p:sp>
      <p:sp>
        <p:nvSpPr>
          <p:cNvPr id="15" name="">
            <a:extLst xmlns:a="http://schemas.openxmlformats.org/drawingml/2006/main">
              <a:ext uri="{FF2B5EF4-FFF2-40B4-BE49-F238E27FC236}">
                <a16:creationId xmlns:a16="http://schemas.microsoft.com/office/drawing/2014/main" id="{87577F6F-4850-4356-9DEC-D8E091D0A0E5}"/>
              </a:ext>
            </a:extLst>
          </p:cNvPr>
          <p:cNvSpPr>
            <a:spLocks xmlns:a="http://schemas.openxmlformats.org/drawingml/2006/main" noGrp="1"/>
          </p:cNvSpPr>
          <p:nvPr/>
        </p:nvSpPr>
        <p:spPr>
          <a:xfrm xmlns:a="http://schemas.openxmlformats.org/drawingml/2006/main">
            <a:off x="8505825" y="268605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250" b="1">
                <a:solidFill>
                  <a:srgbClr val="A7ACA8"/>
                </a:solidFill>
                <a:latin typeface="Helvetica Neue"/>
                <a:ea typeface="Helvetica Neue"/>
                <a:cs typeface="Helvetica Neue"/>
              </a:defRPr>
            </a:pPr>
            <a:r>
              <a:rPr sz="2250" b="1">
                <a:solidFill>
                  <a:srgbClr val="A7ACA8"/>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DA45B7F4-E16C-4B7C-BCE7-6435E7266292}"/>
              </a:ext>
            </a:extLst>
          </p:cNvPr>
          <p:cNvSpPr>
            <a:spLocks xmlns:a="http://schemas.openxmlformats.org/drawingml/2006/main" noGrp="1"/>
          </p:cNvSpPr>
          <p:nvPr/>
        </p:nvSpPr>
        <p:spPr>
          <a:xfrm xmlns:a="http://schemas.openxmlformats.org/drawingml/2006/main">
            <a:off x="9029700" y="19812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A33A2C"/>
                </a:solidFill>
                <a:latin typeface="Helvetica Neue"/>
                <a:ea typeface="Helvetica Neue"/>
                <a:cs typeface="Helvetica Neue"/>
              </a:defRPr>
            </a:pPr>
            <a:r>
              <a:rPr sz="1125" b="1">
                <a:solidFill>
                  <a:srgbClr val="A33A2C"/>
                </a:solidFill>
                <a:latin typeface="Helvetica Neue"/>
                <a:ea typeface="Helvetica Neue"/>
                <a:cs typeface="Helvetica Neue"/>
              </a:rPr>
              <a:t>04</a:t>
            </a:r>
          </a:p>
        </p:txBody>
      </p:sp>
      <p:sp>
        <p:nvSpPr>
          <p:cNvPr id="17" name="">
            <a:extLst xmlns:a="http://schemas.openxmlformats.org/drawingml/2006/main">
              <a:ext uri="{FF2B5EF4-FFF2-40B4-BE49-F238E27FC236}">
                <a16:creationId xmlns:a16="http://schemas.microsoft.com/office/drawing/2014/main" id="{CCFB38C9-DE29-4F0C-8B10-C2231BF7EB27}"/>
              </a:ext>
            </a:extLst>
          </p:cNvPr>
          <p:cNvSpPr>
            <a:spLocks xmlns:a="http://schemas.openxmlformats.org/drawingml/2006/main" noGrp="1"/>
          </p:cNvSpPr>
          <p:nvPr/>
        </p:nvSpPr>
        <p:spPr>
          <a:xfrm xmlns:a="http://schemas.openxmlformats.org/drawingml/2006/main">
            <a:off x="9029700" y="24765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71A18"/>
                </a:solidFill>
                <a:latin typeface="Helvetica Neue"/>
                <a:ea typeface="Helvetica Neue"/>
                <a:cs typeface="Helvetica Neue"/>
              </a:defRPr>
            </a:pPr>
            <a:r>
              <a:rPr sz="1500" b="1">
                <a:solidFill>
                  <a:srgbClr val="171A18"/>
                </a:solidFill>
                <a:latin typeface="Helvetica Neue"/>
                <a:ea typeface="Helvetica Neue"/>
                <a:cs typeface="Helvetica Neue"/>
              </a:rPr>
              <a:t>MODEL</a:t>
            </a:r>
          </a:p>
        </p:txBody>
      </p:sp>
      <p:sp>
        <p:nvSpPr>
          <p:cNvPr id="18" name="">
            <a:extLst xmlns:a="http://schemas.openxmlformats.org/drawingml/2006/main">
              <a:ext uri="{FF2B5EF4-FFF2-40B4-BE49-F238E27FC236}">
                <a16:creationId xmlns:a16="http://schemas.microsoft.com/office/drawing/2014/main" id="{1B660A45-6028-44D3-B3FB-C5D049E33733}"/>
              </a:ext>
            </a:extLst>
          </p:cNvPr>
          <p:cNvSpPr>
            <a:spLocks xmlns:a="http://schemas.openxmlformats.org/drawingml/2006/main" noGrp="1"/>
          </p:cNvSpPr>
          <p:nvPr/>
        </p:nvSpPr>
        <p:spPr>
          <a:xfrm xmlns:a="http://schemas.openxmlformats.org/drawingml/2006/main">
            <a:off x="9029700" y="2971800"/>
            <a:ext cx="2324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A33A2C"/>
                </a:solidFill>
                <a:latin typeface="Helvetica Neue"/>
                <a:ea typeface="Helvetica Neue"/>
                <a:cs typeface="Helvetica Neue"/>
              </a:defRPr>
            </a:pPr>
            <a:r>
              <a:rPr sz="1800" b="0">
                <a:solidFill>
                  <a:srgbClr val="A33A2C"/>
                </a:solidFill>
                <a:latin typeface="Helvetica Neue"/>
                <a:ea typeface="Helvetica Neue"/>
                <a:cs typeface="Helvetica Neue"/>
              </a:rPr>
              <a:t>Run biological AI tools</a:t>
            </a:r>
          </a:p>
        </p:txBody>
      </p:sp>
      <p:sp>
        <p:nvSpPr>
          <p:cNvPr id="19" name="">
            <a:extLst xmlns:a="http://schemas.openxmlformats.org/drawingml/2006/main">
              <a:ext uri="{FF2B5EF4-FFF2-40B4-BE49-F238E27FC236}">
                <a16:creationId xmlns:a16="http://schemas.microsoft.com/office/drawing/2014/main" id="{D31B8D66-3E9F-4840-A2FD-FF1731D498A7}"/>
              </a:ext>
            </a:extLst>
          </p:cNvPr>
          <p:cNvSpPr>
            <a:spLocks xmlns:a="http://schemas.openxmlformats.org/drawingml/2006/main" noGrp="1"/>
          </p:cNvSpPr>
          <p:nvPr/>
        </p:nvSpPr>
        <p:spPr>
          <a:xfrm xmlns:a="http://schemas.openxmlformats.org/drawingml/2006/main">
            <a:off x="457200" y="3981450"/>
            <a:ext cx="10820400" cy="0"/>
          </a:xfrm>
          <a:prstGeom xmlns:a="http://schemas.openxmlformats.org/drawingml/2006/main" prst="line">
            <a:avLst/>
          </a:prstGeom>
          <a:noFill xmlns:a="http://schemas.openxmlformats.org/drawingml/2006/main"/>
          <a:ln xmlns:a="http://schemas.openxmlformats.org/drawingml/2006/main" w="19050">
            <a:solidFill>
              <a:srgbClr val="C8CDC8"/>
            </a:solidFill>
            <a:prstDash val="solid"/>
          </a:ln>
        </p:spPr>
      </p:sp>
      <p:sp>
        <p:nvSpPr>
          <p:cNvPr id="20" name="">
            <a:extLst xmlns:a="http://schemas.openxmlformats.org/drawingml/2006/main">
              <a:ext uri="{FF2B5EF4-FFF2-40B4-BE49-F238E27FC236}">
                <a16:creationId xmlns:a16="http://schemas.microsoft.com/office/drawing/2014/main" id="{0304F1FF-7F0D-490F-9EEB-264BCFF5BA04}"/>
              </a:ext>
            </a:extLst>
          </p:cNvPr>
          <p:cNvSpPr>
            <a:spLocks xmlns:a="http://schemas.openxmlformats.org/drawingml/2006/main" noGrp="1"/>
          </p:cNvSpPr>
          <p:nvPr/>
        </p:nvSpPr>
        <p:spPr>
          <a:xfrm xmlns:a="http://schemas.openxmlformats.org/drawingml/2006/main">
            <a:off x="1066800" y="4514850"/>
            <a:ext cx="10058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775" b="1">
                <a:solidFill>
                  <a:srgbClr val="A33A2C"/>
                </a:solidFill>
                <a:latin typeface="Helvetica Neue"/>
                <a:ea typeface="Helvetica Neue"/>
                <a:cs typeface="Helvetica Neue"/>
              </a:defRPr>
            </a:pPr>
            <a:r>
              <a:rPr sz="2775" b="1">
                <a:solidFill>
                  <a:srgbClr val="A33A2C"/>
                </a:solidFill>
                <a:latin typeface="Helvetica Neue"/>
                <a:ea typeface="Helvetica Neue"/>
                <a:cs typeface="Helvetica Neue"/>
              </a:rPr>
              <a:t>Inspect, redirect, or stop at every transition.</a:t>
            </a:r>
          </a:p>
        </p:txBody>
      </p:sp>
      <p:sp>
        <p:nvSpPr>
          <p:cNvPr id="21" name="">
            <a:extLst xmlns:a="http://schemas.openxmlformats.org/drawingml/2006/main">
              <a:ext uri="{FF2B5EF4-FFF2-40B4-BE49-F238E27FC236}">
                <a16:creationId xmlns:a16="http://schemas.microsoft.com/office/drawing/2014/main" id="{6FABBCB9-F60F-4F3A-BFFF-C20D472E64C0}"/>
              </a:ext>
            </a:extLst>
          </p:cNvPr>
          <p:cNvSpPr>
            <a:spLocks xmlns:a="http://schemas.openxmlformats.org/drawingml/2006/main" noGrp="1"/>
          </p:cNvSpPr>
          <p:nvPr/>
        </p:nvSpPr>
        <p:spPr>
          <a:xfrm xmlns:a="http://schemas.openxmlformats.org/drawingml/2006/main">
            <a:off x="1866900" y="5429250"/>
            <a:ext cx="8458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0">
                <a:solidFill>
                  <a:srgbClr val="676C68"/>
                </a:solidFill>
                <a:latin typeface="Helvetica Neue"/>
                <a:ea typeface="Helvetica Neue"/>
                <a:cs typeface="Helvetica Neue"/>
              </a:defRPr>
            </a:pPr>
            <a:r>
              <a:rPr sz="1650" b="0">
                <a:solidFill>
                  <a:srgbClr val="676C68"/>
                </a:solidFill>
                <a:latin typeface="Helvetica Neue"/>
                <a:ea typeface="Helvetica Neue"/>
                <a:cs typeface="Helvetica Neue"/>
              </a:rPr>
              <a:t>Formulation frames it. Literature grounds it. Proto-tools computes it.</a:t>
            </a:r>
          </a:p>
        </p:txBody>
      </p:sp>
    </p:spTree>
    <p:extLst>
      <p:ext uri="{BB962C8B-B14F-4D97-AF65-F5344CB8AC3E}">
        <p14:creationId xmlns:p14="http://schemas.microsoft.com/office/powerpoint/2010/main" val="19460853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2764856-4B06-432C-B8A1-3FCA940B5113}"/>
              </a:ext>
            </a:extLst>
          </p:cNvPr>
          <p:cNvSpPr>
            <a:spLocks xmlns:a="http://schemas.openxmlformats.org/drawingml/2006/main" noGrp="1"/>
          </p:cNvSpPr>
          <p:nvPr/>
        </p:nvSpPr>
        <p:spPr>
          <a:xfrm xmlns:a="http://schemas.openxmlformats.org/drawingml/2006/main">
            <a:off x="419100" y="2286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F6F6B"/>
                </a:solidFill>
                <a:latin typeface="Helvetica Neue"/>
                <a:ea typeface="Helvetica Neue"/>
                <a:cs typeface="Helvetica Neue"/>
              </a:defRPr>
            </a:pPr>
            <a:r>
              <a:rPr sz="1050" b="1">
                <a:solidFill>
                  <a:srgbClr val="2F6F6B"/>
                </a:solidFill>
                <a:latin typeface="Helvetica Neue"/>
                <a:ea typeface="Helvetica Neue"/>
                <a:cs typeface="Helvetica Neue"/>
              </a:rPr>
              <a:t>FORMULATION AGENT</a:t>
            </a:r>
          </a:p>
        </p:txBody>
      </p:sp>
      <p:sp>
        <p:nvSpPr>
          <p:cNvPr id="2" name="">
            <a:extLst xmlns:a="http://schemas.openxmlformats.org/drawingml/2006/main">
              <a:ext uri="{FF2B5EF4-FFF2-40B4-BE49-F238E27FC236}">
                <a16:creationId xmlns:a16="http://schemas.microsoft.com/office/drawing/2014/main" id="{C85F3B6D-02F3-455E-8096-7F8B012F5223}"/>
              </a:ext>
            </a:extLst>
          </p:cNvPr>
          <p:cNvSpPr>
            <a:spLocks xmlns:a="http://schemas.openxmlformats.org/drawingml/2006/main" noGrp="1"/>
          </p:cNvSpPr>
          <p:nvPr/>
        </p:nvSpPr>
        <p:spPr>
          <a:xfrm xmlns:a="http://schemas.openxmlformats.org/drawingml/2006/main">
            <a:off x="112585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676C68"/>
                </a:solidFill>
                <a:latin typeface="Helvetica Neue"/>
                <a:ea typeface="Helvetica Neue"/>
                <a:cs typeface="Helvetica Neue"/>
              </a:defRPr>
            </a:pPr>
            <a:r>
              <a:rPr sz="1050" b="0">
                <a:solidFill>
                  <a:srgbClr val="676C68"/>
                </a:solidFill>
                <a:latin typeface="Helvetica Neue"/>
                <a:ea typeface="Helvetica Neue"/>
                <a:cs typeface="Helvetica Neue"/>
              </a:rPr>
              <a:t>03</a:t>
            </a:r>
          </a:p>
        </p:txBody>
      </p:sp>
      <p:sp>
        <p:nvSpPr>
          <p:cNvPr id="3" name="slide-3-title">
            <a:extLst xmlns:a="http://schemas.openxmlformats.org/drawingml/2006/main">
              <a:ext uri="{FF2B5EF4-FFF2-40B4-BE49-F238E27FC236}">
                <a16:creationId xmlns:a16="http://schemas.microsoft.com/office/drawing/2014/main" id="{2479D1C4-0C0D-4487-B73F-E6526E88E440}"/>
              </a:ext>
            </a:extLst>
          </p:cNvPr>
          <p:cNvSpPr>
            <a:spLocks xmlns:a="http://schemas.openxmlformats.org/drawingml/2006/main" noGrp="1"/>
          </p:cNvSpPr>
          <p:nvPr/>
        </p:nvSpPr>
        <p:spPr>
          <a:xfrm xmlns:a="http://schemas.openxmlformats.org/drawingml/2006/main">
            <a:off x="419100" y="552450"/>
            <a:ext cx="11353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a:solidFill>
                  <a:srgbClr val="171A18"/>
                </a:solidFill>
                <a:latin typeface="Helvetica Neue"/>
                <a:ea typeface="Helvetica Neue"/>
                <a:cs typeface="Helvetica Neue"/>
              </a:defRPr>
            </a:pPr>
            <a:r>
              <a:rPr sz="3450" b="1">
                <a:solidFill>
                  <a:srgbClr val="171A18"/>
                </a:solidFill>
                <a:latin typeface="Helvetica Neue"/>
                <a:ea typeface="Helvetica Neue"/>
                <a:cs typeface="Helvetica Neue"/>
              </a:rPr>
              <a:t>The formulation agent turns goals into testable routes.</a:t>
            </a:r>
          </a:p>
        </p:txBody>
      </p:sp>
      <p:sp>
        <p:nvSpPr>
          <p:cNvPr id="4" name="">
            <a:extLst xmlns:a="http://schemas.openxmlformats.org/drawingml/2006/main">
              <a:ext uri="{FF2B5EF4-FFF2-40B4-BE49-F238E27FC236}">
                <a16:creationId xmlns:a16="http://schemas.microsoft.com/office/drawing/2014/main" id="{AEE5D2D7-565B-4E75-AB62-4D14552334E0}"/>
              </a:ext>
            </a:extLst>
          </p:cNvPr>
          <p:cNvSpPr>
            <a:spLocks xmlns:a="http://schemas.openxmlformats.org/drawingml/2006/main" noGrp="1"/>
          </p:cNvSpPr>
          <p:nvPr/>
        </p:nvSpPr>
        <p:spPr>
          <a:xfrm xmlns:a="http://schemas.openxmlformats.org/drawingml/2006/main">
            <a:off x="685800" y="16954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676C68"/>
                </a:solidFill>
                <a:latin typeface="Helvetica Neue"/>
                <a:ea typeface="Helvetica Neue"/>
                <a:cs typeface="Helvetica Neue"/>
              </a:defRPr>
            </a:pPr>
            <a:r>
              <a:rPr sz="1125" b="1">
                <a:solidFill>
                  <a:srgbClr val="676C68"/>
                </a:solidFill>
                <a:latin typeface="Helvetica Neue"/>
                <a:ea typeface="Helvetica Neue"/>
                <a:cs typeface="Helvetica Neue"/>
              </a:rPr>
              <a:t>SCIENTIST STARTS WITH</a:t>
            </a:r>
          </a:p>
        </p:txBody>
      </p:sp>
      <p:sp>
        <p:nvSpPr>
          <p:cNvPr id="5" name="">
            <a:extLst xmlns:a="http://schemas.openxmlformats.org/drawingml/2006/main">
              <a:ext uri="{FF2B5EF4-FFF2-40B4-BE49-F238E27FC236}">
                <a16:creationId xmlns:a16="http://schemas.microsoft.com/office/drawing/2014/main" id="{D22169B7-F49A-417D-9077-C0F8072F46D8}"/>
              </a:ext>
            </a:extLst>
          </p:cNvPr>
          <p:cNvSpPr>
            <a:spLocks xmlns:a="http://schemas.openxmlformats.org/drawingml/2006/main" noGrp="1"/>
          </p:cNvSpPr>
          <p:nvPr/>
        </p:nvSpPr>
        <p:spPr>
          <a:xfrm xmlns:a="http://schemas.openxmlformats.org/drawingml/2006/main">
            <a:off x="685800" y="21145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71A18"/>
                </a:solidFill>
                <a:latin typeface="Helvetica Neue"/>
                <a:ea typeface="Helvetica Neue"/>
                <a:cs typeface="Helvetica Neue"/>
              </a:defRPr>
            </a:pPr>
            <a:r>
              <a:rPr sz="2700" b="1">
                <a:solidFill>
                  <a:srgbClr val="171A18"/>
                </a:solidFill>
                <a:latin typeface="Helvetica Neue"/>
                <a:ea typeface="Helvetica Neue"/>
                <a:cs typeface="Helvetica Neue"/>
              </a:rPr>
              <a:t>Design an RF-responsive biological system</a:t>
            </a:r>
          </a:p>
        </p:txBody>
      </p:sp>
      <p:sp>
        <p:nvSpPr>
          <p:cNvPr id="6" name="">
            <a:extLst xmlns:a="http://schemas.openxmlformats.org/drawingml/2006/main">
              <a:ext uri="{FF2B5EF4-FFF2-40B4-BE49-F238E27FC236}">
                <a16:creationId xmlns:a16="http://schemas.microsoft.com/office/drawing/2014/main" id="{BECBE08B-5F10-4D86-9F13-7348CC9B6296}"/>
              </a:ext>
            </a:extLst>
          </p:cNvPr>
          <p:cNvSpPr>
            <a:spLocks xmlns:a="http://schemas.openxmlformats.org/drawingml/2006/main" noGrp="1"/>
          </p:cNvSpPr>
          <p:nvPr/>
        </p:nvSpPr>
        <p:spPr>
          <a:xfrm xmlns:a="http://schemas.openxmlformats.org/drawingml/2006/main">
            <a:off x="685800" y="3429000"/>
            <a:ext cx="4629150" cy="1866900"/>
          </a:xfrm>
          <a:prstGeom xmlns:a="http://schemas.openxmlformats.org/drawingml/2006/main" prst="roundRect">
            <a:avLst>
              <a:gd name="adj" fmla="val 6122"/>
            </a:avLst>
          </a:prstGeom>
          <a:solidFill xmlns:a="http://schemas.openxmlformats.org/drawingml/2006/main">
            <a:srgbClr val="F3E2DE"/>
          </a:solidFill>
          <a:ln xmlns:a="http://schemas.openxmlformats.org/drawingml/2006/main" w="9525">
            <a:solidFill>
              <a:srgbClr val="A33A2C"/>
            </a:solidFill>
            <a:prstDash val="solid"/>
          </a:ln>
        </p:spPr>
      </p:sp>
      <p:sp>
        <p:nvSpPr>
          <p:cNvPr id="7" name="">
            <a:extLst xmlns:a="http://schemas.openxmlformats.org/drawingml/2006/main">
              <a:ext uri="{FF2B5EF4-FFF2-40B4-BE49-F238E27FC236}">
                <a16:creationId xmlns:a16="http://schemas.microsoft.com/office/drawing/2014/main" id="{FCCB619A-567D-456D-94EF-B753C1D542A3}"/>
              </a:ext>
            </a:extLst>
          </p:cNvPr>
          <p:cNvSpPr>
            <a:spLocks xmlns:a="http://schemas.openxmlformats.org/drawingml/2006/main" noGrp="1"/>
          </p:cNvSpPr>
          <p:nvPr/>
        </p:nvSpPr>
        <p:spPr>
          <a:xfrm xmlns:a="http://schemas.openxmlformats.org/drawingml/2006/main">
            <a:off x="952500" y="3676650"/>
            <a:ext cx="18097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A33A2C"/>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A33A2C"/>
                </a:solidFill>
                <a:latin typeface="Helvetica Neue"/>
                <a:ea typeface="Helvetica Neue"/>
                <a:cs typeface="Helvetica Neue"/>
              </a:defRPr>
            </a:pPr>
            <a:r>
              <a:rPr sz="1125" b="1">
                <a:solidFill>
                  <a:srgbClr val="A33A2C"/>
                </a:solidFill>
                <a:latin typeface="Helvetica Neue"/>
                <a:ea typeface="Helvetica Neue"/>
                <a:cs typeface="Helvetica Neue"/>
              </a:rPr>
              <a:t>OPEN-ENDED</a:t>
            </a:r>
          </a:p>
        </p:txBody>
      </p:sp>
      <p:sp>
        <p:nvSpPr>
          <p:cNvPr id="8" name="">
            <a:extLst xmlns:a="http://schemas.openxmlformats.org/drawingml/2006/main">
              <a:ext uri="{FF2B5EF4-FFF2-40B4-BE49-F238E27FC236}">
                <a16:creationId xmlns:a16="http://schemas.microsoft.com/office/drawing/2014/main" id="{0782F5B3-8308-46EC-A7C1-2A833C96FF94}"/>
              </a:ext>
            </a:extLst>
          </p:cNvPr>
          <p:cNvSpPr>
            <a:spLocks xmlns:a="http://schemas.openxmlformats.org/drawingml/2006/main" noGrp="1"/>
          </p:cNvSpPr>
          <p:nvPr/>
        </p:nvSpPr>
        <p:spPr>
          <a:xfrm xmlns:a="http://schemas.openxmlformats.org/drawingml/2006/main">
            <a:off x="952500" y="424815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71A18"/>
                </a:solidFill>
                <a:latin typeface="Helvetica Neue"/>
                <a:ea typeface="Helvetica Neue"/>
                <a:cs typeface="Helvetica Neue"/>
              </a:defRPr>
            </a:pPr>
            <a:r>
              <a:rPr sz="2175" b="1">
                <a:solidFill>
                  <a:srgbClr val="171A18"/>
                </a:solidFill>
                <a:latin typeface="Helvetica Neue"/>
                <a:ea typeface="Helvetica Neue"/>
                <a:cs typeface="Helvetica Neue"/>
              </a:rPr>
              <a:t>A vague biological goal</a:t>
            </a:r>
          </a:p>
        </p:txBody>
      </p:sp>
      <p:sp>
        <p:nvSpPr>
          <p:cNvPr id="9" name="">
            <a:extLst xmlns:a="http://schemas.openxmlformats.org/drawingml/2006/main">
              <a:ext uri="{FF2B5EF4-FFF2-40B4-BE49-F238E27FC236}">
                <a16:creationId xmlns:a16="http://schemas.microsoft.com/office/drawing/2014/main" id="{B8FBDA03-4B08-49C2-89A0-617E6FCC77B4}"/>
              </a:ext>
            </a:extLst>
          </p:cNvPr>
          <p:cNvSpPr>
            <a:spLocks xmlns:a="http://schemas.openxmlformats.org/drawingml/2006/main" noGrp="1"/>
          </p:cNvSpPr>
          <p:nvPr/>
        </p:nvSpPr>
        <p:spPr>
          <a:xfrm xmlns:a="http://schemas.openxmlformats.org/drawingml/2006/main">
            <a:off x="952500" y="4819650"/>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A33A2C"/>
                </a:solidFill>
                <a:latin typeface="Helvetica Neue"/>
                <a:ea typeface="Helvetica Neue"/>
                <a:cs typeface="Helvetica Neue"/>
              </a:defRPr>
            </a:pPr>
            <a:r>
              <a:rPr sz="1425" b="0">
                <a:solidFill>
                  <a:srgbClr val="A33A2C"/>
                </a:solidFill>
                <a:latin typeface="Helvetica Neue"/>
                <a:ea typeface="Helvetica Neue"/>
                <a:cs typeface="Helvetica Neue"/>
              </a:rPr>
              <a:t>Mechanism and evaluator still unknown</a:t>
            </a:r>
          </a:p>
        </p:txBody>
      </p:sp>
      <p:sp>
        <p:nvSpPr>
          <p:cNvPr id="10" name="">
            <a:extLst xmlns:a="http://schemas.openxmlformats.org/drawingml/2006/main">
              <a:ext uri="{FF2B5EF4-FFF2-40B4-BE49-F238E27FC236}">
                <a16:creationId xmlns:a16="http://schemas.microsoft.com/office/drawing/2014/main" id="{68766500-C818-4DFA-919C-3098574C7CC9}"/>
              </a:ext>
            </a:extLst>
          </p:cNvPr>
          <p:cNvSpPr>
            <a:spLocks xmlns:a="http://schemas.openxmlformats.org/drawingml/2006/main" noGrp="1"/>
          </p:cNvSpPr>
          <p:nvPr/>
        </p:nvSpPr>
        <p:spPr>
          <a:xfrm xmlns:a="http://schemas.openxmlformats.org/drawingml/2006/main">
            <a:off x="5543550" y="3943350"/>
            <a:ext cx="819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4200" b="1">
                <a:solidFill>
                  <a:srgbClr val="2F6F6B"/>
                </a:solidFill>
                <a:latin typeface="Helvetica Neue"/>
                <a:ea typeface="Helvetica Neue"/>
                <a:cs typeface="Helvetica Neue"/>
              </a:defRPr>
            </a:pPr>
            <a:r>
              <a:rPr sz="4200" b="1">
                <a:solidFill>
                  <a:srgbClr val="2F6F6B"/>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F5C29287-DEA7-46AA-8EBC-1E906F8FE1F1}"/>
              </a:ext>
            </a:extLst>
          </p:cNvPr>
          <p:cNvSpPr>
            <a:spLocks xmlns:a="http://schemas.openxmlformats.org/drawingml/2006/main" noGrp="1"/>
          </p:cNvSpPr>
          <p:nvPr/>
        </p:nvSpPr>
        <p:spPr>
          <a:xfrm xmlns:a="http://schemas.openxmlformats.org/drawingml/2006/main">
            <a:off x="6610350" y="3429000"/>
            <a:ext cx="4895850" cy="1866900"/>
          </a:xfrm>
          <a:prstGeom xmlns:a="http://schemas.openxmlformats.org/drawingml/2006/main" prst="roundRect">
            <a:avLst>
              <a:gd name="adj" fmla="val 6122"/>
            </a:avLst>
          </a:prstGeom>
          <a:solidFill xmlns:a="http://schemas.openxmlformats.org/drawingml/2006/main">
            <a:srgbClr val="DCEBE8"/>
          </a:solidFill>
          <a:ln xmlns:a="http://schemas.openxmlformats.org/drawingml/2006/main" w="9525">
            <a:solidFill>
              <a:srgbClr val="2F6F6B"/>
            </a:solidFill>
            <a:prstDash val="solid"/>
          </a:ln>
        </p:spPr>
      </p:sp>
      <p:sp>
        <p:nvSpPr>
          <p:cNvPr id="12" name="">
            <a:extLst xmlns:a="http://schemas.openxmlformats.org/drawingml/2006/main">
              <a:ext uri="{FF2B5EF4-FFF2-40B4-BE49-F238E27FC236}">
                <a16:creationId xmlns:a16="http://schemas.microsoft.com/office/drawing/2014/main" id="{59EEB0F1-5D95-473B-B8C2-3B4C03D49E86}"/>
              </a:ext>
            </a:extLst>
          </p:cNvPr>
          <p:cNvSpPr>
            <a:spLocks xmlns:a="http://schemas.openxmlformats.org/drawingml/2006/main" noGrp="1"/>
          </p:cNvSpPr>
          <p:nvPr/>
        </p:nvSpPr>
        <p:spPr>
          <a:xfrm xmlns:a="http://schemas.openxmlformats.org/drawingml/2006/main">
            <a:off x="6877050" y="3676650"/>
            <a:ext cx="12001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2F6F6B"/>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F6F6B"/>
                </a:solidFill>
                <a:latin typeface="Helvetica Neue"/>
                <a:ea typeface="Helvetica Neue"/>
                <a:cs typeface="Helvetica Neue"/>
              </a:defRPr>
            </a:pPr>
            <a:r>
              <a:rPr sz="1125" b="1">
                <a:solidFill>
                  <a:srgbClr val="2F6F6B"/>
                </a:solidFill>
                <a:latin typeface="Helvetica Neue"/>
                <a:ea typeface="Helvetica Neue"/>
                <a:cs typeface="Helvetica Neue"/>
              </a:rPr>
              <a:t>RANKED</a:t>
            </a:r>
          </a:p>
        </p:txBody>
      </p:sp>
      <p:sp>
        <p:nvSpPr>
          <p:cNvPr id="13" name="">
            <a:extLst xmlns:a="http://schemas.openxmlformats.org/drawingml/2006/main">
              <a:ext uri="{FF2B5EF4-FFF2-40B4-BE49-F238E27FC236}">
                <a16:creationId xmlns:a16="http://schemas.microsoft.com/office/drawing/2014/main" id="{43108946-5F1E-4C9C-92BE-25F8D9406112}"/>
              </a:ext>
            </a:extLst>
          </p:cNvPr>
          <p:cNvSpPr>
            <a:spLocks xmlns:a="http://schemas.openxmlformats.org/drawingml/2006/main" noGrp="1"/>
          </p:cNvSpPr>
          <p:nvPr/>
        </p:nvSpPr>
        <p:spPr>
          <a:xfrm xmlns:a="http://schemas.openxmlformats.org/drawingml/2006/main">
            <a:off x="6877050" y="4248150"/>
            <a:ext cx="4210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71A18"/>
                </a:solidFill>
                <a:latin typeface="Helvetica Neue"/>
                <a:ea typeface="Helvetica Neue"/>
                <a:cs typeface="Helvetica Neue"/>
              </a:defRPr>
            </a:pPr>
            <a:r>
              <a:rPr sz="2175" b="1">
                <a:solidFill>
                  <a:srgbClr val="171A18"/>
                </a:solidFill>
                <a:latin typeface="Helvetica Neue"/>
                <a:ea typeface="Helvetica Neue"/>
                <a:cs typeface="Helvetica Neue"/>
              </a:rPr>
              <a:t>Ranked, falsifiable research routes</a:t>
            </a:r>
          </a:p>
        </p:txBody>
      </p:sp>
      <p:sp>
        <p:nvSpPr>
          <p:cNvPr id="14" name="">
            <a:extLst xmlns:a="http://schemas.openxmlformats.org/drawingml/2006/main">
              <a:ext uri="{FF2B5EF4-FFF2-40B4-BE49-F238E27FC236}">
                <a16:creationId xmlns:a16="http://schemas.microsoft.com/office/drawing/2014/main" id="{ED6C1F20-8BEE-41F6-AEF3-BD50F7013326}"/>
              </a:ext>
            </a:extLst>
          </p:cNvPr>
          <p:cNvSpPr>
            <a:spLocks xmlns:a="http://schemas.openxmlformats.org/drawingml/2006/main" noGrp="1"/>
          </p:cNvSpPr>
          <p:nvPr/>
        </p:nvSpPr>
        <p:spPr>
          <a:xfrm xmlns:a="http://schemas.openxmlformats.org/drawingml/2006/main">
            <a:off x="6877050" y="49149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2F6F6B"/>
                </a:solidFill>
                <a:latin typeface="Helvetica Neue"/>
                <a:ea typeface="Helvetica Neue"/>
                <a:cs typeface="Helvetica Neue"/>
              </a:defRPr>
            </a:pPr>
            <a:r>
              <a:rPr sz="1425" b="0">
                <a:solidFill>
                  <a:srgbClr val="2F6F6B"/>
                </a:solidFill>
                <a:latin typeface="Helvetica Neue"/>
                <a:ea typeface="Helvetica Neue"/>
                <a:cs typeface="Helvetica Neue"/>
              </a:rPr>
              <a:t>Drop, follow up, or refine</a:t>
            </a:r>
          </a:p>
        </p:txBody>
      </p:sp>
      <p:sp>
        <p:nvSpPr>
          <p:cNvPr id="15" name="">
            <a:extLst xmlns:a="http://schemas.openxmlformats.org/drawingml/2006/main">
              <a:ext uri="{FF2B5EF4-FFF2-40B4-BE49-F238E27FC236}">
                <a16:creationId xmlns:a16="http://schemas.microsoft.com/office/drawing/2014/main" id="{EECC10D4-32EE-429F-B744-6B039E80ED88}"/>
              </a:ext>
            </a:extLst>
          </p:cNvPr>
          <p:cNvSpPr>
            <a:spLocks xmlns:a="http://schemas.openxmlformats.org/drawingml/2006/main" noGrp="1"/>
          </p:cNvSpPr>
          <p:nvPr/>
        </p:nvSpPr>
        <p:spPr>
          <a:xfrm xmlns:a="http://schemas.openxmlformats.org/drawingml/2006/main">
            <a:off x="3238500" y="5829300"/>
            <a:ext cx="571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a:solidFill>
                  <a:srgbClr val="2F6F6B"/>
                </a:solidFill>
                <a:latin typeface="Helvetica Neue"/>
                <a:ea typeface="Helvetica Neue"/>
                <a:cs typeface="Helvetica Neue"/>
              </a:defRPr>
            </a:pPr>
            <a:r>
              <a:rPr sz="1875" b="1">
                <a:solidFill>
                  <a:srgbClr val="2F6F6B"/>
                </a:solidFill>
                <a:latin typeface="Helvetica Neue"/>
                <a:ea typeface="Helvetica Neue"/>
                <a:cs typeface="Helvetica Neue"/>
              </a:rPr>
              <a:t>Inject priors. Redirect at any time.</a:t>
            </a:r>
          </a:p>
        </p:txBody>
      </p:sp>
    </p:spTree>
    <p:extLst>
      <p:ext uri="{BB962C8B-B14F-4D97-AF65-F5344CB8AC3E}">
        <p14:creationId xmlns:p14="http://schemas.microsoft.com/office/powerpoint/2010/main" val="657184935"/>
      </p:ext>
    </p:extLst>
  </p:cSld>
</p:sld>
</file>

<file path=ppt/slides/slide4.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3FECA95-F5B1-4B22-BDD8-40BDC6AB5A49}"/>
              </a:ext>
            </a:extLst>
          </p:cNvPr>
          <p:cNvSpPr>
            <a:spLocks xmlns:a="http://schemas.openxmlformats.org/drawingml/2006/main" noGrp="1"/>
          </p:cNvSpPr>
          <p:nvPr/>
        </p:nvSpPr>
        <p:spPr>
          <a:xfrm xmlns:a="http://schemas.openxmlformats.org/drawingml/2006/main">
            <a:off x="419100" y="2286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F6F6B"/>
                </a:solidFill>
                <a:latin typeface="Helvetica Neue"/>
                <a:ea typeface="Helvetica Neue"/>
                <a:cs typeface="Helvetica Neue"/>
              </a:defRPr>
            </a:pPr>
            <a:r>
              <a:rPr sz="1050" b="1">
                <a:solidFill>
                  <a:srgbClr val="2F6F6B"/>
                </a:solidFill>
                <a:latin typeface="Helvetica Neue"/>
                <a:ea typeface="Helvetica Neue"/>
                <a:cs typeface="Helvetica Neue"/>
              </a:rPr>
              <a:t>LITERATURE AGENT</a:t>
            </a:r>
          </a:p>
        </p:txBody>
      </p:sp>
      <p:sp>
        <p:nvSpPr>
          <p:cNvPr id="2" name="">
            <a:extLst xmlns:a="http://schemas.openxmlformats.org/drawingml/2006/main">
              <a:ext uri="{FF2B5EF4-FFF2-40B4-BE49-F238E27FC236}">
                <a16:creationId xmlns:a16="http://schemas.microsoft.com/office/drawing/2014/main" id="{730A4A64-F151-447F-BE76-924A8BF935E3}"/>
              </a:ext>
            </a:extLst>
          </p:cNvPr>
          <p:cNvSpPr>
            <a:spLocks xmlns:a="http://schemas.openxmlformats.org/drawingml/2006/main" noGrp="1"/>
          </p:cNvSpPr>
          <p:nvPr/>
        </p:nvSpPr>
        <p:spPr>
          <a:xfrm xmlns:a="http://schemas.openxmlformats.org/drawingml/2006/main">
            <a:off x="112585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676C68"/>
                </a:solidFill>
                <a:latin typeface="Helvetica Neue"/>
                <a:ea typeface="Helvetica Neue"/>
                <a:cs typeface="Helvetica Neue"/>
              </a:defRPr>
            </a:pPr>
            <a:r>
              <a:rPr sz="1050" b="0">
                <a:solidFill>
                  <a:srgbClr val="676C68"/>
                </a:solidFill>
                <a:latin typeface="Helvetica Neue"/>
                <a:ea typeface="Helvetica Neue"/>
                <a:cs typeface="Helvetica Neue"/>
              </a:rPr>
              <a:t>04</a:t>
            </a:r>
          </a:p>
        </p:txBody>
      </p:sp>
      <p:sp>
        <p:nvSpPr>
          <p:cNvPr id="3" name="slide-4-title">
            <a:extLst xmlns:a="http://schemas.openxmlformats.org/drawingml/2006/main">
              <a:ext uri="{FF2B5EF4-FFF2-40B4-BE49-F238E27FC236}">
                <a16:creationId xmlns:a16="http://schemas.microsoft.com/office/drawing/2014/main" id="{4B181E90-2318-47CC-BEBA-7EB060745A00}"/>
              </a:ext>
            </a:extLst>
          </p:cNvPr>
          <p:cNvSpPr>
            <a:spLocks xmlns:a="http://schemas.openxmlformats.org/drawingml/2006/main" noGrp="1"/>
          </p:cNvSpPr>
          <p:nvPr/>
        </p:nvSpPr>
        <p:spPr>
          <a:xfrm xmlns:a="http://schemas.openxmlformats.org/drawingml/2006/main">
            <a:off x="419100" y="552450"/>
            <a:ext cx="11353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a:solidFill>
                  <a:srgbClr val="171A18"/>
                </a:solidFill>
                <a:latin typeface="Helvetica Neue"/>
                <a:ea typeface="Helvetica Neue"/>
                <a:cs typeface="Helvetica Neue"/>
              </a:defRPr>
            </a:pPr>
            <a:r>
              <a:rPr sz="3450" b="1">
                <a:solidFill>
                  <a:srgbClr val="171A18"/>
                </a:solidFill>
                <a:latin typeface="Helvetica Neue"/>
                <a:ea typeface="Helvetica Neue"/>
                <a:cs typeface="Helvetica Neue"/>
              </a:rPr>
              <a:t>The literature agent turns papers into usable artifacts.</a:t>
            </a:r>
          </a:p>
        </p:txBody>
      </p:sp>
      <p:sp>
        <p:nvSpPr>
          <p:cNvPr id="4" name="">
            <a:extLst xmlns:a="http://schemas.openxmlformats.org/drawingml/2006/main">
              <a:ext uri="{FF2B5EF4-FFF2-40B4-BE49-F238E27FC236}">
                <a16:creationId xmlns:a16="http://schemas.microsoft.com/office/drawing/2014/main" id="{B847562F-BC0A-47A9-8605-4B43576DA2BF}"/>
              </a:ext>
            </a:extLst>
          </p:cNvPr>
          <p:cNvSpPr>
            <a:spLocks xmlns:a="http://schemas.openxmlformats.org/drawingml/2006/main" noGrp="1"/>
          </p:cNvSpPr>
          <p:nvPr/>
        </p:nvSpPr>
        <p:spPr>
          <a:xfrm xmlns:a="http://schemas.openxmlformats.org/drawingml/2006/main">
            <a:off x="419100" y="1790700"/>
            <a:ext cx="2571750" cy="2647950"/>
          </a:xfrm>
          <a:prstGeom xmlns:a="http://schemas.openxmlformats.org/drawingml/2006/main" prst="roundRect">
            <a:avLst>
              <a:gd name="adj" fmla="val 4444"/>
            </a:avLst>
          </a:prstGeom>
          <a:solidFill xmlns:a="http://schemas.openxmlformats.org/drawingml/2006/main">
            <a:srgbClr val="F1F2EF"/>
          </a:solidFill>
          <a:ln xmlns:a="http://schemas.openxmlformats.org/drawingml/2006/main" w="9525">
            <a:solidFill>
              <a:srgbClr val="C8CDC8"/>
            </a:solidFill>
            <a:prstDash val="solid"/>
          </a:ln>
        </p:spPr>
      </p:sp>
      <p:sp>
        <p:nvSpPr>
          <p:cNvPr id="5" name="">
            <a:extLst xmlns:a="http://schemas.openxmlformats.org/drawingml/2006/main">
              <a:ext uri="{FF2B5EF4-FFF2-40B4-BE49-F238E27FC236}">
                <a16:creationId xmlns:a16="http://schemas.microsoft.com/office/drawing/2014/main" id="{6DBD3996-EDD5-440F-ADA5-C41FF00837EA}"/>
              </a:ext>
            </a:extLst>
          </p:cNvPr>
          <p:cNvSpPr>
            <a:spLocks xmlns:a="http://schemas.openxmlformats.org/drawingml/2006/main" noGrp="1"/>
          </p:cNvSpPr>
          <p:nvPr/>
        </p:nvSpPr>
        <p:spPr>
          <a:xfrm xmlns:a="http://schemas.openxmlformats.org/drawingml/2006/main">
            <a:off x="647700" y="2038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676C68"/>
                </a:solidFill>
                <a:latin typeface="Helvetica Neue"/>
                <a:ea typeface="Helvetica Neue"/>
                <a:cs typeface="Helvetica Neue"/>
              </a:defRPr>
            </a:pPr>
            <a:r>
              <a:rPr sz="1125" b="1">
                <a:solidFill>
                  <a:srgbClr val="676C68"/>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BC416E7E-ED61-4D77-8858-2A540C3208D9}"/>
              </a:ext>
            </a:extLst>
          </p:cNvPr>
          <p:cNvSpPr>
            <a:spLocks xmlns:a="http://schemas.openxmlformats.org/drawingml/2006/main" noGrp="1"/>
          </p:cNvSpPr>
          <p:nvPr/>
        </p:nvSpPr>
        <p:spPr>
          <a:xfrm xmlns:a="http://schemas.openxmlformats.org/drawingml/2006/main">
            <a:off x="647700" y="25908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171A18"/>
                </a:solidFill>
                <a:latin typeface="Helvetica Neue"/>
                <a:ea typeface="Helvetica Neue"/>
                <a:cs typeface="Helvetica Neue"/>
              </a:defRPr>
            </a:pPr>
            <a:r>
              <a:rPr sz="1725" b="1">
                <a:solidFill>
                  <a:srgbClr val="171A18"/>
                </a:solidFill>
                <a:latin typeface="Helvetica Neue"/>
                <a:ea typeface="Helvetica Neue"/>
                <a:cs typeface="Helvetica Neue"/>
              </a:rPr>
              <a:t>DISCOVER</a:t>
            </a:r>
          </a:p>
        </p:txBody>
      </p:sp>
      <p:sp>
        <p:nvSpPr>
          <p:cNvPr id="7" name="">
            <a:extLst xmlns:a="http://schemas.openxmlformats.org/drawingml/2006/main">
              <a:ext uri="{FF2B5EF4-FFF2-40B4-BE49-F238E27FC236}">
                <a16:creationId xmlns:a16="http://schemas.microsoft.com/office/drawing/2014/main" id="{4FBB231C-86B4-4DB9-8975-5F68A2F2BA6A}"/>
              </a:ext>
            </a:extLst>
          </p:cNvPr>
          <p:cNvSpPr>
            <a:spLocks xmlns:a="http://schemas.openxmlformats.org/drawingml/2006/main" noGrp="1"/>
          </p:cNvSpPr>
          <p:nvPr/>
        </p:nvSpPr>
        <p:spPr>
          <a:xfrm xmlns:a="http://schemas.openxmlformats.org/drawingml/2006/main">
            <a:off x="647700" y="3238500"/>
            <a:ext cx="2095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76C68"/>
                </a:solidFill>
                <a:latin typeface="Helvetica Neue"/>
                <a:ea typeface="Helvetica Neue"/>
                <a:cs typeface="Helvetica Neue"/>
              </a:defRPr>
            </a:pPr>
            <a:r>
              <a:rPr sz="1500" b="0">
                <a:solidFill>
                  <a:srgbClr val="676C68"/>
                </a:solidFill>
                <a:latin typeface="Helvetica Neue"/>
                <a:ea typeface="Helvetica Neue"/>
                <a:cs typeface="Helvetica Neue"/>
              </a:rPr>
              <a:t>Broad document search</a:t>
            </a:r>
          </a:p>
        </p:txBody>
      </p:sp>
      <p:sp>
        <p:nvSpPr>
          <p:cNvPr id="8" name="">
            <a:extLst xmlns:a="http://schemas.openxmlformats.org/drawingml/2006/main">
              <a:ext uri="{FF2B5EF4-FFF2-40B4-BE49-F238E27FC236}">
                <a16:creationId xmlns:a16="http://schemas.microsoft.com/office/drawing/2014/main" id="{C0330D41-B2C5-4409-AB25-B9F0B123D367}"/>
              </a:ext>
            </a:extLst>
          </p:cNvPr>
          <p:cNvSpPr>
            <a:spLocks xmlns:a="http://schemas.openxmlformats.org/drawingml/2006/main" noGrp="1"/>
          </p:cNvSpPr>
          <p:nvPr/>
        </p:nvSpPr>
        <p:spPr>
          <a:xfrm xmlns:a="http://schemas.openxmlformats.org/drawingml/2006/main">
            <a:off x="2952750" y="29146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2F6F6B"/>
                </a:solidFill>
                <a:latin typeface="Helvetica Neue"/>
                <a:ea typeface="Helvetica Neue"/>
                <a:cs typeface="Helvetica Neue"/>
              </a:defRPr>
            </a:pPr>
            <a:r>
              <a:rPr sz="2100" b="1">
                <a:solidFill>
                  <a:srgbClr val="2F6F6B"/>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A10E3792-B309-4641-B06E-CF2C1470E5DC}"/>
              </a:ext>
            </a:extLst>
          </p:cNvPr>
          <p:cNvSpPr>
            <a:spLocks xmlns:a="http://schemas.openxmlformats.org/drawingml/2006/main" noGrp="1"/>
          </p:cNvSpPr>
          <p:nvPr/>
        </p:nvSpPr>
        <p:spPr>
          <a:xfrm xmlns:a="http://schemas.openxmlformats.org/drawingml/2006/main">
            <a:off x="3295650" y="1790700"/>
            <a:ext cx="2571750" cy="2647950"/>
          </a:xfrm>
          <a:prstGeom xmlns:a="http://schemas.openxmlformats.org/drawingml/2006/main" prst="roundRect">
            <a:avLst>
              <a:gd name="adj" fmla="val 4444"/>
            </a:avLst>
          </a:prstGeom>
          <a:solidFill xmlns:a="http://schemas.openxmlformats.org/drawingml/2006/main">
            <a:srgbClr val="F1F2EF"/>
          </a:solidFill>
          <a:ln xmlns:a="http://schemas.openxmlformats.org/drawingml/2006/main" w="9525">
            <a:solidFill>
              <a:srgbClr val="C8CDC8"/>
            </a:solidFill>
            <a:prstDash val="solid"/>
          </a:ln>
        </p:spPr>
      </p:sp>
      <p:sp>
        <p:nvSpPr>
          <p:cNvPr id="10" name="">
            <a:extLst xmlns:a="http://schemas.openxmlformats.org/drawingml/2006/main">
              <a:ext uri="{FF2B5EF4-FFF2-40B4-BE49-F238E27FC236}">
                <a16:creationId xmlns:a16="http://schemas.microsoft.com/office/drawing/2014/main" id="{FD72DF41-62BE-4D25-ABDA-BF9C0AD9070F}"/>
              </a:ext>
            </a:extLst>
          </p:cNvPr>
          <p:cNvSpPr>
            <a:spLocks xmlns:a="http://schemas.openxmlformats.org/drawingml/2006/main" noGrp="1"/>
          </p:cNvSpPr>
          <p:nvPr/>
        </p:nvSpPr>
        <p:spPr>
          <a:xfrm xmlns:a="http://schemas.openxmlformats.org/drawingml/2006/main">
            <a:off x="3524250" y="2038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676C68"/>
                </a:solidFill>
                <a:latin typeface="Helvetica Neue"/>
                <a:ea typeface="Helvetica Neue"/>
                <a:cs typeface="Helvetica Neue"/>
              </a:defRPr>
            </a:pPr>
            <a:r>
              <a:rPr sz="1125" b="1">
                <a:solidFill>
                  <a:srgbClr val="676C68"/>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A2C039F8-258C-4F10-B81F-654FC5B93114}"/>
              </a:ext>
            </a:extLst>
          </p:cNvPr>
          <p:cNvSpPr>
            <a:spLocks xmlns:a="http://schemas.openxmlformats.org/drawingml/2006/main" noGrp="1"/>
          </p:cNvSpPr>
          <p:nvPr/>
        </p:nvSpPr>
        <p:spPr>
          <a:xfrm xmlns:a="http://schemas.openxmlformats.org/drawingml/2006/main">
            <a:off x="3524250" y="25908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171A18"/>
                </a:solidFill>
                <a:latin typeface="Helvetica Neue"/>
                <a:ea typeface="Helvetica Neue"/>
                <a:cs typeface="Helvetica Neue"/>
              </a:defRPr>
            </a:pPr>
            <a:r>
              <a:rPr sz="1725" b="1">
                <a:solidFill>
                  <a:srgbClr val="171A18"/>
                </a:solidFill>
                <a:latin typeface="Helvetica Neue"/>
                <a:ea typeface="Helvetica Neue"/>
                <a:cs typeface="Helvetica Neue"/>
              </a:rPr>
              <a:t>ZOOM</a:t>
            </a:r>
          </a:p>
        </p:txBody>
      </p:sp>
      <p:sp>
        <p:nvSpPr>
          <p:cNvPr id="12" name="">
            <a:extLst xmlns:a="http://schemas.openxmlformats.org/drawingml/2006/main">
              <a:ext uri="{FF2B5EF4-FFF2-40B4-BE49-F238E27FC236}">
                <a16:creationId xmlns:a16="http://schemas.microsoft.com/office/drawing/2014/main" id="{B6B0AE7A-AEE0-472E-A1C9-03D763FF909F}"/>
              </a:ext>
            </a:extLst>
          </p:cNvPr>
          <p:cNvSpPr>
            <a:spLocks xmlns:a="http://schemas.openxmlformats.org/drawingml/2006/main" noGrp="1"/>
          </p:cNvSpPr>
          <p:nvPr/>
        </p:nvSpPr>
        <p:spPr>
          <a:xfrm xmlns:a="http://schemas.openxmlformats.org/drawingml/2006/main">
            <a:off x="3524250" y="3238500"/>
            <a:ext cx="2095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76C68"/>
                </a:solidFill>
                <a:latin typeface="Helvetica Neue"/>
                <a:ea typeface="Helvetica Neue"/>
                <a:cs typeface="Helvetica Neue"/>
              </a:defRPr>
            </a:pPr>
            <a:r>
              <a:rPr sz="1500" b="0">
                <a:solidFill>
                  <a:srgbClr val="676C68"/>
                </a:solidFill>
                <a:latin typeface="Helvetica Neue"/>
                <a:ea typeface="Helvetica Neue"/>
                <a:cs typeface="Helvetica Neue"/>
              </a:rPr>
              <a:t>Full-text sentence search</a:t>
            </a:r>
          </a:p>
        </p:txBody>
      </p:sp>
      <p:sp>
        <p:nvSpPr>
          <p:cNvPr id="13" name="">
            <a:extLst xmlns:a="http://schemas.openxmlformats.org/drawingml/2006/main">
              <a:ext uri="{FF2B5EF4-FFF2-40B4-BE49-F238E27FC236}">
                <a16:creationId xmlns:a16="http://schemas.microsoft.com/office/drawing/2014/main" id="{E572CFD2-E432-4C87-B028-176D317272DE}"/>
              </a:ext>
            </a:extLst>
          </p:cNvPr>
          <p:cNvSpPr>
            <a:spLocks xmlns:a="http://schemas.openxmlformats.org/drawingml/2006/main" noGrp="1"/>
          </p:cNvSpPr>
          <p:nvPr/>
        </p:nvSpPr>
        <p:spPr>
          <a:xfrm xmlns:a="http://schemas.openxmlformats.org/drawingml/2006/main">
            <a:off x="5829300" y="29146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2F6F6B"/>
                </a:solidFill>
                <a:latin typeface="Helvetica Neue"/>
                <a:ea typeface="Helvetica Neue"/>
                <a:cs typeface="Helvetica Neue"/>
              </a:defRPr>
            </a:pPr>
            <a:r>
              <a:rPr sz="2100" b="1">
                <a:solidFill>
                  <a:srgbClr val="2F6F6B"/>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E8EAD989-44BB-4585-B056-E32CD2047B17}"/>
              </a:ext>
            </a:extLst>
          </p:cNvPr>
          <p:cNvSpPr>
            <a:spLocks xmlns:a="http://schemas.openxmlformats.org/drawingml/2006/main" noGrp="1"/>
          </p:cNvSpPr>
          <p:nvPr/>
        </p:nvSpPr>
        <p:spPr>
          <a:xfrm xmlns:a="http://schemas.openxmlformats.org/drawingml/2006/main">
            <a:off x="6172200" y="1790700"/>
            <a:ext cx="2571750" cy="2647950"/>
          </a:xfrm>
          <a:prstGeom xmlns:a="http://schemas.openxmlformats.org/drawingml/2006/main" prst="roundRect">
            <a:avLst>
              <a:gd name="adj" fmla="val 4444"/>
            </a:avLst>
          </a:prstGeom>
          <a:solidFill xmlns:a="http://schemas.openxmlformats.org/drawingml/2006/main">
            <a:srgbClr val="DCEBE8"/>
          </a:solidFill>
          <a:ln xmlns:a="http://schemas.openxmlformats.org/drawingml/2006/main" w="9525">
            <a:solidFill>
              <a:srgbClr val="2F6F6B"/>
            </a:solidFill>
            <a:prstDash val="solid"/>
          </a:ln>
        </p:spPr>
      </p:sp>
      <p:sp>
        <p:nvSpPr>
          <p:cNvPr id="15" name="">
            <a:extLst xmlns:a="http://schemas.openxmlformats.org/drawingml/2006/main">
              <a:ext uri="{FF2B5EF4-FFF2-40B4-BE49-F238E27FC236}">
                <a16:creationId xmlns:a16="http://schemas.microsoft.com/office/drawing/2014/main" id="{09B181BE-8AFA-4090-949C-CAC109D77FB1}"/>
              </a:ext>
            </a:extLst>
          </p:cNvPr>
          <p:cNvSpPr>
            <a:spLocks xmlns:a="http://schemas.openxmlformats.org/drawingml/2006/main" noGrp="1"/>
          </p:cNvSpPr>
          <p:nvPr/>
        </p:nvSpPr>
        <p:spPr>
          <a:xfrm xmlns:a="http://schemas.openxmlformats.org/drawingml/2006/main">
            <a:off x="6400800" y="2038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F6F6B"/>
                </a:solidFill>
                <a:latin typeface="Helvetica Neue"/>
                <a:ea typeface="Helvetica Neue"/>
                <a:cs typeface="Helvetica Neue"/>
              </a:defRPr>
            </a:pPr>
            <a:r>
              <a:rPr sz="1125" b="1">
                <a:solidFill>
                  <a:srgbClr val="2F6F6B"/>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40506DB8-54EB-4026-81B1-E5AA877735C0}"/>
              </a:ext>
            </a:extLst>
          </p:cNvPr>
          <p:cNvSpPr>
            <a:spLocks xmlns:a="http://schemas.openxmlformats.org/drawingml/2006/main" noGrp="1"/>
          </p:cNvSpPr>
          <p:nvPr/>
        </p:nvSpPr>
        <p:spPr>
          <a:xfrm xmlns:a="http://schemas.openxmlformats.org/drawingml/2006/main">
            <a:off x="6400800" y="25908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171A18"/>
                </a:solidFill>
                <a:latin typeface="Helvetica Neue"/>
                <a:ea typeface="Helvetica Neue"/>
                <a:cs typeface="Helvetica Neue"/>
              </a:defRPr>
            </a:pPr>
            <a:r>
              <a:rPr sz="1725" b="1">
                <a:solidFill>
                  <a:srgbClr val="171A18"/>
                </a:solidFill>
                <a:latin typeface="Helvetica Neue"/>
                <a:ea typeface="Helvetica Neue"/>
                <a:cs typeface="Helvetica Neue"/>
              </a:rPr>
              <a:t>EXTRACT</a:t>
            </a:r>
          </a:p>
        </p:txBody>
      </p:sp>
      <p:sp>
        <p:nvSpPr>
          <p:cNvPr id="17" name="">
            <a:extLst xmlns:a="http://schemas.openxmlformats.org/drawingml/2006/main">
              <a:ext uri="{FF2B5EF4-FFF2-40B4-BE49-F238E27FC236}">
                <a16:creationId xmlns:a16="http://schemas.microsoft.com/office/drawing/2014/main" id="{74671092-C859-4416-BBDC-43DDEFE6417B}"/>
              </a:ext>
            </a:extLst>
          </p:cNvPr>
          <p:cNvSpPr>
            <a:spLocks xmlns:a="http://schemas.openxmlformats.org/drawingml/2006/main" noGrp="1"/>
          </p:cNvSpPr>
          <p:nvPr/>
        </p:nvSpPr>
        <p:spPr>
          <a:xfrm xmlns:a="http://schemas.openxmlformats.org/drawingml/2006/main">
            <a:off x="6400800" y="3238500"/>
            <a:ext cx="2095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76C68"/>
                </a:solidFill>
                <a:latin typeface="Helvetica Neue"/>
                <a:ea typeface="Helvetica Neue"/>
                <a:cs typeface="Helvetica Neue"/>
              </a:defRPr>
            </a:pPr>
            <a:r>
              <a:rPr sz="1500" b="0">
                <a:solidFill>
                  <a:srgbClr val="676C68"/>
                </a:solidFill>
                <a:latin typeface="Helvetica Neue"/>
                <a:ea typeface="Helvetica Neue"/>
                <a:cs typeface="Helvetica Neue"/>
              </a:rPr>
              <a:t>Sequences + parameters</a:t>
            </a:r>
          </a:p>
        </p:txBody>
      </p:sp>
      <p:sp>
        <p:nvSpPr>
          <p:cNvPr id="18" name="">
            <a:extLst xmlns:a="http://schemas.openxmlformats.org/drawingml/2006/main">
              <a:ext uri="{FF2B5EF4-FFF2-40B4-BE49-F238E27FC236}">
                <a16:creationId xmlns:a16="http://schemas.microsoft.com/office/drawing/2014/main" id="{26D8C4F5-DA79-4D6E-824A-4EF68FEB937C}"/>
              </a:ext>
            </a:extLst>
          </p:cNvPr>
          <p:cNvSpPr>
            <a:spLocks xmlns:a="http://schemas.openxmlformats.org/drawingml/2006/main" noGrp="1"/>
          </p:cNvSpPr>
          <p:nvPr/>
        </p:nvSpPr>
        <p:spPr>
          <a:xfrm xmlns:a="http://schemas.openxmlformats.org/drawingml/2006/main">
            <a:off x="8705850" y="29146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2F6F6B"/>
                </a:solidFill>
                <a:latin typeface="Helvetica Neue"/>
                <a:ea typeface="Helvetica Neue"/>
                <a:cs typeface="Helvetica Neue"/>
              </a:defRPr>
            </a:pPr>
            <a:r>
              <a:rPr sz="2100" b="1">
                <a:solidFill>
                  <a:srgbClr val="2F6F6B"/>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B7F903E8-D8B3-4523-8DE2-D8E9E893D4CE}"/>
              </a:ext>
            </a:extLst>
          </p:cNvPr>
          <p:cNvSpPr>
            <a:spLocks xmlns:a="http://schemas.openxmlformats.org/drawingml/2006/main" noGrp="1"/>
          </p:cNvSpPr>
          <p:nvPr/>
        </p:nvSpPr>
        <p:spPr>
          <a:xfrm xmlns:a="http://schemas.openxmlformats.org/drawingml/2006/main">
            <a:off x="9048750" y="1790700"/>
            <a:ext cx="2571750" cy="2647950"/>
          </a:xfrm>
          <a:prstGeom xmlns:a="http://schemas.openxmlformats.org/drawingml/2006/main" prst="roundRect">
            <a:avLst>
              <a:gd name="adj" fmla="val 4444"/>
            </a:avLst>
          </a:prstGeom>
          <a:solidFill xmlns:a="http://schemas.openxmlformats.org/drawingml/2006/main">
            <a:srgbClr val="F1F2EF"/>
          </a:solidFill>
          <a:ln xmlns:a="http://schemas.openxmlformats.org/drawingml/2006/main" w="9525">
            <a:solidFill>
              <a:srgbClr val="C8CDC8"/>
            </a:solidFill>
            <a:prstDash val="solid"/>
          </a:ln>
        </p:spPr>
      </p:sp>
      <p:sp>
        <p:nvSpPr>
          <p:cNvPr id="20" name="">
            <a:extLst xmlns:a="http://schemas.openxmlformats.org/drawingml/2006/main">
              <a:ext uri="{FF2B5EF4-FFF2-40B4-BE49-F238E27FC236}">
                <a16:creationId xmlns:a16="http://schemas.microsoft.com/office/drawing/2014/main" id="{9D983573-6A04-4F81-BD83-667C656D053E}"/>
              </a:ext>
            </a:extLst>
          </p:cNvPr>
          <p:cNvSpPr>
            <a:spLocks xmlns:a="http://schemas.openxmlformats.org/drawingml/2006/main" noGrp="1"/>
          </p:cNvSpPr>
          <p:nvPr/>
        </p:nvSpPr>
        <p:spPr>
          <a:xfrm xmlns:a="http://schemas.openxmlformats.org/drawingml/2006/main">
            <a:off x="9277350" y="2038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676C68"/>
                </a:solidFill>
                <a:latin typeface="Helvetica Neue"/>
                <a:ea typeface="Helvetica Neue"/>
                <a:cs typeface="Helvetica Neue"/>
              </a:defRPr>
            </a:pPr>
            <a:r>
              <a:rPr sz="1125" b="1">
                <a:solidFill>
                  <a:srgbClr val="676C68"/>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4E464107-8A15-4C90-A7E1-F9F02FC6778E}"/>
              </a:ext>
            </a:extLst>
          </p:cNvPr>
          <p:cNvSpPr>
            <a:spLocks xmlns:a="http://schemas.openxmlformats.org/drawingml/2006/main" noGrp="1"/>
          </p:cNvSpPr>
          <p:nvPr/>
        </p:nvSpPr>
        <p:spPr>
          <a:xfrm xmlns:a="http://schemas.openxmlformats.org/drawingml/2006/main">
            <a:off x="9277350" y="25908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171A18"/>
                </a:solidFill>
                <a:latin typeface="Helvetica Neue"/>
                <a:ea typeface="Helvetica Neue"/>
                <a:cs typeface="Helvetica Neue"/>
              </a:defRPr>
            </a:pPr>
            <a:r>
              <a:rPr sz="1725" b="1">
                <a:solidFill>
                  <a:srgbClr val="171A18"/>
                </a:solidFill>
                <a:latin typeface="Helvetica Neue"/>
                <a:ea typeface="Helvetica Neue"/>
                <a:cs typeface="Helvetica Neue"/>
              </a:rPr>
              <a:t>LOOP</a:t>
            </a:r>
          </a:p>
        </p:txBody>
      </p:sp>
      <p:sp>
        <p:nvSpPr>
          <p:cNvPr id="22" name="">
            <a:extLst xmlns:a="http://schemas.openxmlformats.org/drawingml/2006/main">
              <a:ext uri="{FF2B5EF4-FFF2-40B4-BE49-F238E27FC236}">
                <a16:creationId xmlns:a16="http://schemas.microsoft.com/office/drawing/2014/main" id="{D6985EF7-3EE6-4BF5-97A4-9F397790F6DC}"/>
              </a:ext>
            </a:extLst>
          </p:cNvPr>
          <p:cNvSpPr>
            <a:spLocks xmlns:a="http://schemas.openxmlformats.org/drawingml/2006/main" noGrp="1"/>
          </p:cNvSpPr>
          <p:nvPr/>
        </p:nvSpPr>
        <p:spPr>
          <a:xfrm xmlns:a="http://schemas.openxmlformats.org/drawingml/2006/main">
            <a:off x="9277350" y="3238500"/>
            <a:ext cx="2095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76C68"/>
                </a:solidFill>
                <a:latin typeface="Helvetica Neue"/>
                <a:ea typeface="Helvetica Neue"/>
                <a:cs typeface="Helvetica Neue"/>
              </a:defRPr>
            </a:pPr>
            <a:r>
              <a:rPr sz="1500" b="0">
                <a:solidFill>
                  <a:srgbClr val="676C68"/>
                </a:solidFill>
                <a:latin typeface="Helvetica Neue"/>
                <a:ea typeface="Helvetica Neue"/>
                <a:cs typeface="Helvetica Neue"/>
              </a:rPr>
              <a:t>Re-query gaps and bias</a:t>
            </a:r>
          </a:p>
        </p:txBody>
      </p:sp>
      <p:sp>
        <p:nvSpPr>
          <p:cNvPr id="23" name="">
            <a:extLst xmlns:a="http://schemas.openxmlformats.org/drawingml/2006/main">
              <a:ext uri="{FF2B5EF4-FFF2-40B4-BE49-F238E27FC236}">
                <a16:creationId xmlns:a16="http://schemas.microsoft.com/office/drawing/2014/main" id="{A5412A9B-3DAE-4A94-A779-7F6687FBC1E7}"/>
              </a:ext>
            </a:extLst>
          </p:cNvPr>
          <p:cNvSpPr>
            <a:spLocks xmlns:a="http://schemas.openxmlformats.org/drawingml/2006/main" noGrp="1"/>
          </p:cNvSpPr>
          <p:nvPr/>
        </p:nvSpPr>
        <p:spPr>
          <a:xfrm xmlns:a="http://schemas.openxmlformats.org/drawingml/2006/main">
            <a:off x="800100" y="5029200"/>
            <a:ext cx="10591800" cy="838200"/>
          </a:xfrm>
          <a:prstGeom xmlns:a="http://schemas.openxmlformats.org/drawingml/2006/main" prst="roundRect">
            <a:avLst>
              <a:gd name="adj" fmla="val 13636"/>
            </a:avLst>
          </a:prstGeom>
          <a:solidFill xmlns:a="http://schemas.openxmlformats.org/drawingml/2006/main">
            <a:srgbClr val="171A18"/>
          </a:solidFill>
          <a:ln xmlns:a="http://schemas.openxmlformats.org/drawingml/2006/main" w="0">
            <a:solidFill>
              <a:srgbClr val="171A18"/>
            </a:solidFill>
            <a:prstDash val="solid"/>
          </a:ln>
        </p:spPr>
      </p:sp>
      <p:sp>
        <p:nvSpPr>
          <p:cNvPr id="24" name="">
            <a:extLst xmlns:a="http://schemas.openxmlformats.org/drawingml/2006/main">
              <a:ext uri="{FF2B5EF4-FFF2-40B4-BE49-F238E27FC236}">
                <a16:creationId xmlns:a16="http://schemas.microsoft.com/office/drawing/2014/main" id="{AEAEE110-8083-4F34-A509-A989F4299B43}"/>
              </a:ext>
            </a:extLst>
          </p:cNvPr>
          <p:cNvSpPr>
            <a:spLocks xmlns:a="http://schemas.openxmlformats.org/drawingml/2006/main" noGrp="1"/>
          </p:cNvSpPr>
          <p:nvPr/>
        </p:nvSpPr>
        <p:spPr>
          <a:xfrm xmlns:a="http://schemas.openxmlformats.org/drawingml/2006/main">
            <a:off x="1104900" y="5248275"/>
            <a:ext cx="998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Output: traceable mechanisms, sequences, and quantitative constraints.</a:t>
            </a:r>
          </a:p>
        </p:txBody>
      </p:sp>
      <p:sp>
        <p:nvSpPr>
          <p:cNvPr id="25" name="">
            <a:extLst xmlns:a="http://schemas.openxmlformats.org/drawingml/2006/main">
              <a:ext uri="{FF2B5EF4-FFF2-40B4-BE49-F238E27FC236}">
                <a16:creationId xmlns:a16="http://schemas.microsoft.com/office/drawing/2014/main" id="{5B483905-F613-4EBD-B1D0-F8AEA347D277}"/>
              </a:ext>
            </a:extLst>
          </p:cNvPr>
          <p:cNvSpPr>
            <a:spLocks xmlns:a="http://schemas.openxmlformats.org/drawingml/2006/main" noGrp="1"/>
          </p:cNvSpPr>
          <p:nvPr/>
        </p:nvSpPr>
        <p:spPr>
          <a:xfrm xmlns:a="http://schemas.openxmlformats.org/drawingml/2006/main">
            <a:off x="4229100" y="6096000"/>
            <a:ext cx="3733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2F6F6B"/>
                </a:solidFill>
                <a:latin typeface="Helvetica Neue"/>
                <a:ea typeface="Helvetica Neue"/>
                <a:cs typeface="Helvetica Neue"/>
              </a:defRPr>
            </a:pPr>
            <a:r>
              <a:rPr sz="1050" b="1">
                <a:solidFill>
                  <a:srgbClr val="2F6F6B"/>
                </a:solidFill>
                <a:latin typeface="Helvetica Neue"/>
                <a:ea typeface="Helvetica Neue"/>
                <a:cs typeface="Helvetica Neue"/>
              </a:rPr>
              <a:t>REVIEWED PLAN · MANIFEST · KNOWLEDGE BASE</a:t>
            </a:r>
          </a:p>
        </p:txBody>
      </p:sp>
    </p:spTree>
    <p:extLst>
      <p:ext uri="{BB962C8B-B14F-4D97-AF65-F5344CB8AC3E}">
        <p14:creationId xmlns:p14="http://schemas.microsoft.com/office/powerpoint/2010/main" val="12088940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8CB74F7-FFC8-451A-84FF-991D1F2793F4}"/>
              </a:ext>
            </a:extLst>
          </p:cNvPr>
          <p:cNvSpPr>
            <a:spLocks xmlns:a="http://schemas.openxmlformats.org/drawingml/2006/main" noGrp="1"/>
          </p:cNvSpPr>
          <p:nvPr/>
        </p:nvSpPr>
        <p:spPr>
          <a:xfrm xmlns:a="http://schemas.openxmlformats.org/drawingml/2006/main">
            <a:off x="419100" y="2286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F6F6B"/>
                </a:solidFill>
                <a:latin typeface="Helvetica Neue"/>
                <a:ea typeface="Helvetica Neue"/>
                <a:cs typeface="Helvetica Neue"/>
              </a:defRPr>
            </a:pPr>
            <a:r>
              <a:rPr sz="1050" b="1">
                <a:solidFill>
                  <a:srgbClr val="2F6F6B"/>
                </a:solidFill>
                <a:latin typeface="Helvetica Neue"/>
                <a:ea typeface="Helvetica Neue"/>
                <a:cs typeface="Helvetica Neue"/>
              </a:rPr>
              <a:t>PROTO-TOOLS AGENT</a:t>
            </a:r>
          </a:p>
        </p:txBody>
      </p:sp>
      <p:sp>
        <p:nvSpPr>
          <p:cNvPr id="2" name="">
            <a:extLst xmlns:a="http://schemas.openxmlformats.org/drawingml/2006/main">
              <a:ext uri="{FF2B5EF4-FFF2-40B4-BE49-F238E27FC236}">
                <a16:creationId xmlns:a16="http://schemas.microsoft.com/office/drawing/2014/main" id="{C540A66E-422E-4309-97F8-D89A5153FB43}"/>
              </a:ext>
            </a:extLst>
          </p:cNvPr>
          <p:cNvSpPr>
            <a:spLocks xmlns:a="http://schemas.openxmlformats.org/drawingml/2006/main" noGrp="1"/>
          </p:cNvSpPr>
          <p:nvPr/>
        </p:nvSpPr>
        <p:spPr>
          <a:xfrm xmlns:a="http://schemas.openxmlformats.org/drawingml/2006/main">
            <a:off x="112585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676C68"/>
                </a:solidFill>
                <a:latin typeface="Helvetica Neue"/>
                <a:ea typeface="Helvetica Neue"/>
                <a:cs typeface="Helvetica Neue"/>
              </a:defRPr>
            </a:pPr>
            <a:r>
              <a:rPr sz="1050" b="0">
                <a:solidFill>
                  <a:srgbClr val="676C68"/>
                </a:solidFill>
                <a:latin typeface="Helvetica Neue"/>
                <a:ea typeface="Helvetica Neue"/>
                <a:cs typeface="Helvetica Neue"/>
              </a:rPr>
              <a:t>05</a:t>
            </a:r>
          </a:p>
        </p:txBody>
      </p:sp>
      <p:sp>
        <p:nvSpPr>
          <p:cNvPr id="3" name="slide-5-title">
            <a:extLst xmlns:a="http://schemas.openxmlformats.org/drawingml/2006/main">
              <a:ext uri="{FF2B5EF4-FFF2-40B4-BE49-F238E27FC236}">
                <a16:creationId xmlns:a16="http://schemas.microsoft.com/office/drawing/2014/main" id="{B76E65F6-FF51-432A-BBDB-67C050889647}"/>
              </a:ext>
            </a:extLst>
          </p:cNvPr>
          <p:cNvSpPr>
            <a:spLocks xmlns:a="http://schemas.openxmlformats.org/drawingml/2006/main" noGrp="1"/>
          </p:cNvSpPr>
          <p:nvPr/>
        </p:nvSpPr>
        <p:spPr>
          <a:xfrm xmlns:a="http://schemas.openxmlformats.org/drawingml/2006/main">
            <a:off x="419100" y="552450"/>
            <a:ext cx="11353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a:solidFill>
                  <a:srgbClr val="171A18"/>
                </a:solidFill>
                <a:latin typeface="Helvetica Neue"/>
                <a:ea typeface="Helvetica Neue"/>
                <a:cs typeface="Helvetica Neue"/>
              </a:defRPr>
            </a:pPr>
            <a:r>
              <a:rPr sz="3450" b="1">
                <a:solidFill>
                  <a:srgbClr val="171A18"/>
                </a:solidFill>
                <a:latin typeface="Helvetica Neue"/>
                <a:ea typeface="Helvetica Neue"/>
                <a:cs typeface="Helvetica Neue"/>
              </a:rPr>
              <a:t>Proto-tools can co-fold a protein with its ligand.</a:t>
            </a:r>
          </a:p>
        </p:txBody>
      </p:sp>
      <p:sp>
        <p:nvSpPr>
          <p:cNvPr id="4" name="">
            <a:extLst xmlns:a="http://schemas.openxmlformats.org/drawingml/2006/main">
              <a:ext uri="{FF2B5EF4-FFF2-40B4-BE49-F238E27FC236}">
                <a16:creationId xmlns:a16="http://schemas.microsoft.com/office/drawing/2014/main" id="{9C673E49-0979-4195-A5B9-0D6CAEBA24CD}"/>
              </a:ext>
            </a:extLst>
          </p:cNvPr>
          <p:cNvSpPr>
            <a:spLocks xmlns:a="http://schemas.openxmlformats.org/drawingml/2006/main" noGrp="1"/>
          </p:cNvSpPr>
          <p:nvPr/>
        </p:nvSpPr>
        <p:spPr>
          <a:xfrm xmlns:a="http://schemas.openxmlformats.org/drawingml/2006/main">
            <a:off x="419100" y="1524000"/>
            <a:ext cx="7620000" cy="4476750"/>
          </a:xfrm>
          <a:prstGeom xmlns:a="http://schemas.openxmlformats.org/drawingml/2006/main" prst="roundRect">
            <a:avLst>
              <a:gd name="adj" fmla="val 2553"/>
            </a:avLst>
          </a:prstGeom>
          <a:solidFill xmlns:a="http://schemas.openxmlformats.org/drawingml/2006/main">
            <a:srgbClr val="F1F2EF"/>
          </a:solidFill>
          <a:ln xmlns:a="http://schemas.openxmlformats.org/drawingml/2006/main" w="9525">
            <a:solidFill>
              <a:srgbClr val="C8CDC8"/>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214de6510c04241"/>
          <a:srcRect xmlns:a="http://schemas.openxmlformats.org/drawingml/2006/main" l="3000" t="20000" r="3000" b="1500"/>
          <a:stretch xmlns:a="http://schemas.openxmlformats.org/drawingml/2006/main">
            <a:fillRect l="0" t="0" r="0" b="0"/>
          </a:stretch>
        </p:blipFill>
        <p:spPr>
          <a:xfrm xmlns:a="http://schemas.openxmlformats.org/drawingml/2006/main" flipH="0" flipV="0">
            <a:off x="495300" y="1600200"/>
            <a:ext cx="7467600" cy="4324350"/>
          </a:xfrm>
          <a:prstGeom xmlns:a="http://schemas.openxmlformats.org/drawingml/2006/main" prst="roundRect">
            <a:avLst/>
          </a:prstGeom>
        </p:spPr>
      </p:pic>
      <p:sp>
        <p:nvSpPr>
          <p:cNvPr id="6" name="">
            <a:extLst xmlns:a="http://schemas.openxmlformats.org/drawingml/2006/main">
              <a:ext uri="{FF2B5EF4-FFF2-40B4-BE49-F238E27FC236}">
                <a16:creationId xmlns:a16="http://schemas.microsoft.com/office/drawing/2014/main" id="{4BC4EC49-DD93-491D-819F-44DA19B402FB}"/>
              </a:ext>
            </a:extLst>
          </p:cNvPr>
          <p:cNvSpPr>
            <a:spLocks xmlns:a="http://schemas.openxmlformats.org/drawingml/2006/main" noGrp="1"/>
          </p:cNvSpPr>
          <p:nvPr/>
        </p:nvSpPr>
        <p:spPr>
          <a:xfrm xmlns:a="http://schemas.openxmlformats.org/drawingml/2006/main">
            <a:off x="8496300" y="16573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2F6F6B"/>
                </a:solidFill>
                <a:latin typeface="Helvetica Neue"/>
                <a:ea typeface="Helvetica Neue"/>
                <a:cs typeface="Helvetica Neue"/>
              </a:defRPr>
            </a:pPr>
            <a:r>
              <a:rPr sz="1200" b="1">
                <a:solidFill>
                  <a:srgbClr val="2F6F6B"/>
                </a:solidFill>
                <a:latin typeface="Helvetica Neue"/>
                <a:ea typeface="Helvetica Neue"/>
                <a:cs typeface="Helvetica Neue"/>
              </a:rPr>
              <a:t>CO-FOLDING DEMO</a:t>
            </a:r>
          </a:p>
        </p:txBody>
      </p:sp>
      <p:sp>
        <p:nvSpPr>
          <p:cNvPr id="7" name="">
            <a:extLst xmlns:a="http://schemas.openxmlformats.org/drawingml/2006/main">
              <a:ext uri="{FF2B5EF4-FFF2-40B4-BE49-F238E27FC236}">
                <a16:creationId xmlns:a16="http://schemas.microsoft.com/office/drawing/2014/main" id="{140EC493-E883-4DA7-9E2D-5661EA1EBB9E}"/>
              </a:ext>
            </a:extLst>
          </p:cNvPr>
          <p:cNvSpPr>
            <a:spLocks xmlns:a="http://schemas.openxmlformats.org/drawingml/2006/main" noGrp="1"/>
          </p:cNvSpPr>
          <p:nvPr/>
        </p:nvSpPr>
        <p:spPr>
          <a:xfrm xmlns:a="http://schemas.openxmlformats.org/drawingml/2006/main">
            <a:off x="8496300" y="2228850"/>
            <a:ext cx="361950" cy="361950"/>
          </a:xfrm>
          <a:prstGeom xmlns:a="http://schemas.openxmlformats.org/drawingml/2006/main" prst="ellipse">
            <a:avLst/>
          </a:prstGeom>
          <a:solidFill xmlns:a="http://schemas.openxmlformats.org/drawingml/2006/main">
            <a:srgbClr val="F1F2EF"/>
          </a:solidFill>
          <a:ln xmlns:a="http://schemas.openxmlformats.org/drawingml/2006/main" w="9525">
            <a:solidFill>
              <a:srgbClr val="C8CDC8"/>
            </a:solidFill>
            <a:prstDash val="solid"/>
          </a:ln>
        </p:spPr>
      </p:sp>
      <p:sp>
        <p:nvSpPr>
          <p:cNvPr id="8" name="">
            <a:extLst xmlns:a="http://schemas.openxmlformats.org/drawingml/2006/main">
              <a:ext uri="{FF2B5EF4-FFF2-40B4-BE49-F238E27FC236}">
                <a16:creationId xmlns:a16="http://schemas.microsoft.com/office/drawing/2014/main" id="{79F32A52-EB1A-4E27-9788-B8DA10C2076C}"/>
              </a:ext>
            </a:extLst>
          </p:cNvPr>
          <p:cNvSpPr>
            <a:spLocks xmlns:a="http://schemas.openxmlformats.org/drawingml/2006/main" noGrp="1"/>
          </p:cNvSpPr>
          <p:nvPr/>
        </p:nvSpPr>
        <p:spPr>
          <a:xfrm xmlns:a="http://schemas.openxmlformats.org/drawingml/2006/main">
            <a:off x="8496300" y="22955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171A18"/>
                </a:solidFill>
                <a:latin typeface="Helvetica Neue"/>
                <a:ea typeface="Helvetica Neue"/>
                <a:cs typeface="Helvetica Neue"/>
              </a:defRPr>
            </a:pPr>
            <a:r>
              <a:rPr sz="1200" b="1">
                <a:solidFill>
                  <a:srgbClr val="171A18"/>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A88CBBE1-B31E-4F8A-94D3-49A3F105D396}"/>
              </a:ext>
            </a:extLst>
          </p:cNvPr>
          <p:cNvSpPr>
            <a:spLocks xmlns:a="http://schemas.openxmlformats.org/drawingml/2006/main" noGrp="1"/>
          </p:cNvSpPr>
          <p:nvPr/>
        </p:nvSpPr>
        <p:spPr>
          <a:xfrm xmlns:a="http://schemas.openxmlformats.org/drawingml/2006/main">
            <a:off x="9067800" y="22002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71A18"/>
                </a:solidFill>
                <a:latin typeface="Helvetica Neue"/>
                <a:ea typeface="Helvetica Neue"/>
                <a:cs typeface="Helvetica Neue"/>
              </a:defRPr>
            </a:pPr>
            <a:r>
              <a:rPr sz="1650" b="0">
                <a:solidFill>
                  <a:srgbClr val="171A18"/>
                </a:solidFill>
                <a:latin typeface="Helvetica Neue"/>
                <a:ea typeface="Helvetica Neue"/>
                <a:cs typeface="Helvetica Neue"/>
              </a:rPr>
              <a:t>Select the right structure model</a:t>
            </a:r>
          </a:p>
        </p:txBody>
      </p:sp>
      <p:sp>
        <p:nvSpPr>
          <p:cNvPr id="10" name="">
            <a:extLst xmlns:a="http://schemas.openxmlformats.org/drawingml/2006/main">
              <a:ext uri="{FF2B5EF4-FFF2-40B4-BE49-F238E27FC236}">
                <a16:creationId xmlns:a16="http://schemas.microsoft.com/office/drawing/2014/main" id="{4311B849-8EDE-414D-B163-DDD83FE2B82E}"/>
              </a:ext>
            </a:extLst>
          </p:cNvPr>
          <p:cNvSpPr>
            <a:spLocks xmlns:a="http://schemas.openxmlformats.org/drawingml/2006/main" noGrp="1"/>
          </p:cNvSpPr>
          <p:nvPr/>
        </p:nvSpPr>
        <p:spPr>
          <a:xfrm xmlns:a="http://schemas.openxmlformats.org/drawingml/2006/main">
            <a:off x="8496300" y="3295650"/>
            <a:ext cx="361950" cy="361950"/>
          </a:xfrm>
          <a:prstGeom xmlns:a="http://schemas.openxmlformats.org/drawingml/2006/main" prst="ellipse">
            <a:avLst/>
          </a:prstGeom>
          <a:solidFill xmlns:a="http://schemas.openxmlformats.org/drawingml/2006/main">
            <a:srgbClr val="F1F2EF"/>
          </a:solidFill>
          <a:ln xmlns:a="http://schemas.openxmlformats.org/drawingml/2006/main" w="9525">
            <a:solidFill>
              <a:srgbClr val="C8CDC8"/>
            </a:solidFill>
            <a:prstDash val="solid"/>
          </a:ln>
        </p:spPr>
      </p:sp>
      <p:sp>
        <p:nvSpPr>
          <p:cNvPr id="11" name="">
            <a:extLst xmlns:a="http://schemas.openxmlformats.org/drawingml/2006/main">
              <a:ext uri="{FF2B5EF4-FFF2-40B4-BE49-F238E27FC236}">
                <a16:creationId xmlns:a16="http://schemas.microsoft.com/office/drawing/2014/main" id="{59601A49-17F1-4A41-B694-F057FB1884CE}"/>
              </a:ext>
            </a:extLst>
          </p:cNvPr>
          <p:cNvSpPr>
            <a:spLocks xmlns:a="http://schemas.openxmlformats.org/drawingml/2006/main" noGrp="1"/>
          </p:cNvSpPr>
          <p:nvPr/>
        </p:nvSpPr>
        <p:spPr>
          <a:xfrm xmlns:a="http://schemas.openxmlformats.org/drawingml/2006/main">
            <a:off x="8496300" y="33623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171A18"/>
                </a:solidFill>
                <a:latin typeface="Helvetica Neue"/>
                <a:ea typeface="Helvetica Neue"/>
                <a:cs typeface="Helvetica Neue"/>
              </a:defRPr>
            </a:pPr>
            <a:r>
              <a:rPr sz="1200" b="1">
                <a:solidFill>
                  <a:srgbClr val="171A18"/>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696A2685-EFF6-4589-AE9D-424F9FBD95FF}"/>
              </a:ext>
            </a:extLst>
          </p:cNvPr>
          <p:cNvSpPr>
            <a:spLocks xmlns:a="http://schemas.openxmlformats.org/drawingml/2006/main" noGrp="1"/>
          </p:cNvSpPr>
          <p:nvPr/>
        </p:nvSpPr>
        <p:spPr>
          <a:xfrm xmlns:a="http://schemas.openxmlformats.org/drawingml/2006/main">
            <a:off x="9067800" y="32670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71A18"/>
                </a:solidFill>
                <a:latin typeface="Helvetica Neue"/>
                <a:ea typeface="Helvetica Neue"/>
                <a:cs typeface="Helvetica Neue"/>
              </a:defRPr>
            </a:pPr>
            <a:r>
              <a:rPr sz="1650" b="0">
                <a:solidFill>
                  <a:srgbClr val="171A18"/>
                </a:solidFill>
                <a:latin typeface="Helvetica Neue"/>
                <a:ea typeface="Helvetica Neue"/>
                <a:cs typeface="Helvetica Neue"/>
              </a:rPr>
              <a:t>Run KRAS G12C + sotorasib</a:t>
            </a:r>
          </a:p>
        </p:txBody>
      </p:sp>
      <p:sp>
        <p:nvSpPr>
          <p:cNvPr id="13" name="">
            <a:extLst xmlns:a="http://schemas.openxmlformats.org/drawingml/2006/main">
              <a:ext uri="{FF2B5EF4-FFF2-40B4-BE49-F238E27FC236}">
                <a16:creationId xmlns:a16="http://schemas.microsoft.com/office/drawing/2014/main" id="{051E4C31-D3A2-4FCC-9393-C8CC6281A7DC}"/>
              </a:ext>
            </a:extLst>
          </p:cNvPr>
          <p:cNvSpPr>
            <a:spLocks xmlns:a="http://schemas.openxmlformats.org/drawingml/2006/main" noGrp="1"/>
          </p:cNvSpPr>
          <p:nvPr/>
        </p:nvSpPr>
        <p:spPr>
          <a:xfrm xmlns:a="http://schemas.openxmlformats.org/drawingml/2006/main">
            <a:off x="8496300" y="4362450"/>
            <a:ext cx="361950" cy="361950"/>
          </a:xfrm>
          <a:prstGeom xmlns:a="http://schemas.openxmlformats.org/drawingml/2006/main" prst="ellipse">
            <a:avLst/>
          </a:prstGeom>
          <a:solidFill xmlns:a="http://schemas.openxmlformats.org/drawingml/2006/main">
            <a:srgbClr val="2F6F6B"/>
          </a:solidFill>
          <a:ln xmlns:a="http://schemas.openxmlformats.org/drawingml/2006/main" w="9525">
            <a:solidFill>
              <a:srgbClr val="2F6F6B"/>
            </a:solidFill>
            <a:prstDash val="solid"/>
          </a:ln>
        </p:spPr>
      </p:sp>
      <p:sp>
        <p:nvSpPr>
          <p:cNvPr id="14" name="">
            <a:extLst xmlns:a="http://schemas.openxmlformats.org/drawingml/2006/main">
              <a:ext uri="{FF2B5EF4-FFF2-40B4-BE49-F238E27FC236}">
                <a16:creationId xmlns:a16="http://schemas.microsoft.com/office/drawing/2014/main" id="{75732D7F-5397-4B60-97A0-E619853513AB}"/>
              </a:ext>
            </a:extLst>
          </p:cNvPr>
          <p:cNvSpPr>
            <a:spLocks xmlns:a="http://schemas.openxmlformats.org/drawingml/2006/main" noGrp="1"/>
          </p:cNvSpPr>
          <p:nvPr/>
        </p:nvSpPr>
        <p:spPr>
          <a:xfrm xmlns:a="http://schemas.openxmlformats.org/drawingml/2006/main">
            <a:off x="8496300" y="44291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73D8520F-C981-4332-A6D2-349588859586}"/>
              </a:ext>
            </a:extLst>
          </p:cNvPr>
          <p:cNvSpPr>
            <a:spLocks xmlns:a="http://schemas.openxmlformats.org/drawingml/2006/main" noGrp="1"/>
          </p:cNvSpPr>
          <p:nvPr/>
        </p:nvSpPr>
        <p:spPr>
          <a:xfrm xmlns:a="http://schemas.openxmlformats.org/drawingml/2006/main">
            <a:off x="9067800" y="43338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1A18"/>
                </a:solidFill>
                <a:latin typeface="Helvetica Neue"/>
                <a:ea typeface="Helvetica Neue"/>
                <a:cs typeface="Helvetica Neue"/>
              </a:defRPr>
            </a:pPr>
            <a:r>
              <a:rPr sz="1650" b="1">
                <a:solidFill>
                  <a:srgbClr val="171A18"/>
                </a:solidFill>
                <a:latin typeface="Helvetica Neue"/>
                <a:ea typeface="Helvetica Neue"/>
                <a:cs typeface="Helvetica Neue"/>
              </a:rPr>
              <a:t>Return structure + confidence</a:t>
            </a:r>
          </a:p>
        </p:txBody>
      </p:sp>
      <p:sp>
        <p:nvSpPr>
          <p:cNvPr id="16" name="">
            <a:extLst xmlns:a="http://schemas.openxmlformats.org/drawingml/2006/main">
              <a:ext uri="{FF2B5EF4-FFF2-40B4-BE49-F238E27FC236}">
                <a16:creationId xmlns:a16="http://schemas.microsoft.com/office/drawing/2014/main" id="{BC8FC06F-929F-4ACF-A6B8-16BCF882E71A}"/>
              </a:ext>
            </a:extLst>
          </p:cNvPr>
          <p:cNvSpPr>
            <a:spLocks xmlns:a="http://schemas.openxmlformats.org/drawingml/2006/main" noGrp="1"/>
          </p:cNvSpPr>
          <p:nvPr/>
        </p:nvSpPr>
        <p:spPr>
          <a:xfrm xmlns:a="http://schemas.openxmlformats.org/drawingml/2006/main">
            <a:off x="8496300" y="55054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676C68"/>
                </a:solidFill>
                <a:latin typeface="Helvetica Neue"/>
                <a:ea typeface="Helvetica Neue"/>
                <a:cs typeface="Helvetica Neue"/>
              </a:defRPr>
            </a:pPr>
            <a:r>
              <a:rPr sz="1350" b="1">
                <a:solidFill>
                  <a:srgbClr val="676C68"/>
                </a:solidFill>
                <a:latin typeface="Helvetica Neue"/>
                <a:ea typeface="Helvetica Neue"/>
                <a:cs typeface="Helvetica Neue"/>
              </a:rPr>
              <a:t>ligand ipTM 0.976 · pTM 0.928</a:t>
            </a:r>
          </a:p>
        </p:txBody>
      </p:sp>
    </p:spTree>
    <p:extLst>
      <p:ext uri="{BB962C8B-B14F-4D97-AF65-F5344CB8AC3E}">
        <p14:creationId xmlns:p14="http://schemas.microsoft.com/office/powerpoint/2010/main" val="1438470772"/>
      </p:ext>
    </p:extLst>
  </p:cSld>
</p:sld>
</file>

<file path=ppt/slides/slide6.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BE29981-4A4B-4CB1-A35E-18BD7ECF8E4A}"/>
              </a:ext>
            </a:extLst>
          </p:cNvPr>
          <p:cNvSpPr>
            <a:spLocks xmlns:a="http://schemas.openxmlformats.org/drawingml/2006/main" noGrp="1"/>
          </p:cNvSpPr>
          <p:nvPr/>
        </p:nvSpPr>
        <p:spPr>
          <a:xfrm xmlns:a="http://schemas.openxmlformats.org/drawingml/2006/main">
            <a:off x="419100" y="2286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F6F6B"/>
                </a:solidFill>
                <a:latin typeface="Helvetica Neue"/>
                <a:ea typeface="Helvetica Neue"/>
                <a:cs typeface="Helvetica Neue"/>
              </a:defRPr>
            </a:pPr>
            <a:r>
              <a:rPr sz="1050" b="1">
                <a:solidFill>
                  <a:srgbClr val="2F6F6B"/>
                </a:solidFill>
                <a:latin typeface="Helvetica Neue"/>
                <a:ea typeface="Helvetica Neue"/>
                <a:cs typeface="Helvetica Neue"/>
              </a:rPr>
              <a:t>SCIENTIST CONTROL</a:t>
            </a:r>
          </a:p>
        </p:txBody>
      </p:sp>
      <p:sp>
        <p:nvSpPr>
          <p:cNvPr id="2" name="">
            <a:extLst xmlns:a="http://schemas.openxmlformats.org/drawingml/2006/main">
              <a:ext uri="{FF2B5EF4-FFF2-40B4-BE49-F238E27FC236}">
                <a16:creationId xmlns:a16="http://schemas.microsoft.com/office/drawing/2014/main" id="{FF13A58A-8841-4E30-A3C3-7CDC9473931F}"/>
              </a:ext>
            </a:extLst>
          </p:cNvPr>
          <p:cNvSpPr>
            <a:spLocks xmlns:a="http://schemas.openxmlformats.org/drawingml/2006/main" noGrp="1"/>
          </p:cNvSpPr>
          <p:nvPr/>
        </p:nvSpPr>
        <p:spPr>
          <a:xfrm xmlns:a="http://schemas.openxmlformats.org/drawingml/2006/main">
            <a:off x="112585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676C68"/>
                </a:solidFill>
                <a:latin typeface="Helvetica Neue"/>
                <a:ea typeface="Helvetica Neue"/>
                <a:cs typeface="Helvetica Neue"/>
              </a:defRPr>
            </a:pPr>
            <a:r>
              <a:rPr sz="1050" b="0">
                <a:solidFill>
                  <a:srgbClr val="676C68"/>
                </a:solidFill>
                <a:latin typeface="Helvetica Neue"/>
                <a:ea typeface="Helvetica Neue"/>
                <a:cs typeface="Helvetica Neue"/>
              </a:rPr>
              <a:t>06</a:t>
            </a:r>
          </a:p>
        </p:txBody>
      </p:sp>
      <p:sp>
        <p:nvSpPr>
          <p:cNvPr id="3" name="slide-6-title">
            <a:extLst xmlns:a="http://schemas.openxmlformats.org/drawingml/2006/main">
              <a:ext uri="{FF2B5EF4-FFF2-40B4-BE49-F238E27FC236}">
                <a16:creationId xmlns:a16="http://schemas.microsoft.com/office/drawing/2014/main" id="{82CF2BB4-D2B4-4C6A-866A-E26063F92ED6}"/>
              </a:ext>
            </a:extLst>
          </p:cNvPr>
          <p:cNvSpPr>
            <a:spLocks xmlns:a="http://schemas.openxmlformats.org/drawingml/2006/main" noGrp="1"/>
          </p:cNvSpPr>
          <p:nvPr/>
        </p:nvSpPr>
        <p:spPr>
          <a:xfrm xmlns:a="http://schemas.openxmlformats.org/drawingml/2006/main">
            <a:off x="419100" y="552450"/>
            <a:ext cx="11353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a:solidFill>
                  <a:srgbClr val="171A18"/>
                </a:solidFill>
                <a:latin typeface="Helvetica Neue"/>
                <a:ea typeface="Helvetica Neue"/>
                <a:cs typeface="Helvetica Neue"/>
              </a:defRPr>
            </a:pPr>
            <a:r>
              <a:rPr sz="3450" b="1">
                <a:solidFill>
                  <a:srgbClr val="171A18"/>
                </a:solidFill>
                <a:latin typeface="Helvetica Neue"/>
                <a:ea typeface="Helvetica Neue"/>
                <a:cs typeface="Helvetica Neue"/>
              </a:rPr>
              <a:t>The scientist stays in control at every handoff.</a:t>
            </a:r>
          </a:p>
        </p:txBody>
      </p:sp>
      <p:sp>
        <p:nvSpPr>
          <p:cNvPr id="4" name="">
            <a:extLst xmlns:a="http://schemas.openxmlformats.org/drawingml/2006/main">
              <a:ext uri="{FF2B5EF4-FFF2-40B4-BE49-F238E27FC236}">
                <a16:creationId xmlns:a16="http://schemas.microsoft.com/office/drawing/2014/main" id="{0A9737CB-2BE8-4916-BE93-C01A18BD1A6D}"/>
              </a:ext>
            </a:extLst>
          </p:cNvPr>
          <p:cNvSpPr>
            <a:spLocks xmlns:a="http://schemas.openxmlformats.org/drawingml/2006/main" noGrp="1"/>
          </p:cNvSpPr>
          <p:nvPr/>
        </p:nvSpPr>
        <p:spPr>
          <a:xfrm xmlns:a="http://schemas.openxmlformats.org/drawingml/2006/main">
            <a:off x="419100" y="1790700"/>
            <a:ext cx="3562350" cy="2724150"/>
          </a:xfrm>
          <a:prstGeom xmlns:a="http://schemas.openxmlformats.org/drawingml/2006/main" prst="roundRect">
            <a:avLst>
              <a:gd name="adj" fmla="val 4196"/>
            </a:avLst>
          </a:prstGeom>
          <a:solidFill xmlns:a="http://schemas.openxmlformats.org/drawingml/2006/main">
            <a:srgbClr val="F1F2EF"/>
          </a:solidFill>
          <a:ln xmlns:a="http://schemas.openxmlformats.org/drawingml/2006/main" w="9525">
            <a:solidFill>
              <a:srgbClr val="C8CDC8"/>
            </a:solidFill>
            <a:prstDash val="solid"/>
          </a:ln>
        </p:spPr>
      </p:sp>
      <p:sp>
        <p:nvSpPr>
          <p:cNvPr id="5" name="">
            <a:extLst xmlns:a="http://schemas.openxmlformats.org/drawingml/2006/main">
              <a:ext uri="{FF2B5EF4-FFF2-40B4-BE49-F238E27FC236}">
                <a16:creationId xmlns:a16="http://schemas.microsoft.com/office/drawing/2014/main" id="{D8BC644D-D355-44C5-986E-C93738AC6C34}"/>
              </a:ext>
            </a:extLst>
          </p:cNvPr>
          <p:cNvSpPr>
            <a:spLocks xmlns:a="http://schemas.openxmlformats.org/drawingml/2006/main" noGrp="1"/>
          </p:cNvSpPr>
          <p:nvPr/>
        </p:nvSpPr>
        <p:spPr>
          <a:xfrm xmlns:a="http://schemas.openxmlformats.org/drawingml/2006/main">
            <a:off x="685800" y="2038350"/>
            <a:ext cx="295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850" b="1">
                <a:solidFill>
                  <a:srgbClr val="171A18"/>
                </a:solidFill>
                <a:latin typeface="Helvetica Neue"/>
                <a:ea typeface="Helvetica Neue"/>
                <a:cs typeface="Helvetica Neue"/>
              </a:defRPr>
            </a:pPr>
            <a:r>
              <a:rPr sz="5850" b="1">
                <a:solidFill>
                  <a:srgbClr val="171A18"/>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2D00A737-D08E-4039-B506-608C03FD7E05}"/>
              </a:ext>
            </a:extLst>
          </p:cNvPr>
          <p:cNvSpPr>
            <a:spLocks xmlns:a="http://schemas.openxmlformats.org/drawingml/2006/main" noGrp="1"/>
          </p:cNvSpPr>
          <p:nvPr/>
        </p:nvSpPr>
        <p:spPr>
          <a:xfrm xmlns:a="http://schemas.openxmlformats.org/drawingml/2006/main">
            <a:off x="685800" y="32385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71A18"/>
                </a:solidFill>
                <a:latin typeface="Helvetica Neue"/>
                <a:ea typeface="Helvetica Neue"/>
                <a:cs typeface="Helvetica Neue"/>
              </a:defRPr>
            </a:pPr>
            <a:r>
              <a:rPr sz="1875" b="1">
                <a:solidFill>
                  <a:srgbClr val="171A18"/>
                </a:solidFill>
                <a:latin typeface="Helvetica Neue"/>
                <a:ea typeface="Helvetica Neue"/>
                <a:cs typeface="Helvetica Neue"/>
              </a:rPr>
              <a:t>shape the objective</a:t>
            </a:r>
          </a:p>
        </p:txBody>
      </p:sp>
      <p:sp>
        <p:nvSpPr>
          <p:cNvPr id="7" name="">
            <a:extLst xmlns:a="http://schemas.openxmlformats.org/drawingml/2006/main">
              <a:ext uri="{FF2B5EF4-FFF2-40B4-BE49-F238E27FC236}">
                <a16:creationId xmlns:a16="http://schemas.microsoft.com/office/drawing/2014/main" id="{C13412C8-3B24-4C9F-A8E9-22FEB8FE7A14}"/>
              </a:ext>
            </a:extLst>
          </p:cNvPr>
          <p:cNvSpPr>
            <a:spLocks xmlns:a="http://schemas.openxmlformats.org/drawingml/2006/main" noGrp="1"/>
          </p:cNvSpPr>
          <p:nvPr/>
        </p:nvSpPr>
        <p:spPr>
          <a:xfrm xmlns:a="http://schemas.openxmlformats.org/drawingml/2006/main">
            <a:off x="685800" y="38481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676C68"/>
                </a:solidFill>
                <a:latin typeface="Helvetica Neue"/>
                <a:ea typeface="Helvetica Neue"/>
                <a:cs typeface="Helvetica Neue"/>
              </a:defRPr>
            </a:pPr>
            <a:r>
              <a:rPr sz="1350" b="0">
                <a:solidFill>
                  <a:srgbClr val="676C68"/>
                </a:solidFill>
                <a:latin typeface="Helvetica Neue"/>
                <a:ea typeface="Helvetica Neue"/>
                <a:cs typeface="Helvetica Neue"/>
              </a:rPr>
              <a:t>Add priors + constraints</a:t>
            </a:r>
          </a:p>
        </p:txBody>
      </p:sp>
      <p:sp>
        <p:nvSpPr>
          <p:cNvPr id="8" name="">
            <a:extLst xmlns:a="http://schemas.openxmlformats.org/drawingml/2006/main">
              <a:ext uri="{FF2B5EF4-FFF2-40B4-BE49-F238E27FC236}">
                <a16:creationId xmlns:a16="http://schemas.microsoft.com/office/drawing/2014/main" id="{0241914B-B1AA-44D3-9EBA-54D02CE7D9FA}"/>
              </a:ext>
            </a:extLst>
          </p:cNvPr>
          <p:cNvSpPr>
            <a:spLocks xmlns:a="http://schemas.openxmlformats.org/drawingml/2006/main" noGrp="1"/>
          </p:cNvSpPr>
          <p:nvPr/>
        </p:nvSpPr>
        <p:spPr>
          <a:xfrm xmlns:a="http://schemas.openxmlformats.org/drawingml/2006/main">
            <a:off x="4324350" y="1790700"/>
            <a:ext cx="3562350" cy="2724150"/>
          </a:xfrm>
          <a:prstGeom xmlns:a="http://schemas.openxmlformats.org/drawingml/2006/main" prst="roundRect">
            <a:avLst>
              <a:gd name="adj" fmla="val 4196"/>
            </a:avLst>
          </a:prstGeom>
          <a:solidFill xmlns:a="http://schemas.openxmlformats.org/drawingml/2006/main">
            <a:srgbClr val="DCEBE8"/>
          </a:solidFill>
          <a:ln xmlns:a="http://schemas.openxmlformats.org/drawingml/2006/main" w="9525">
            <a:solidFill>
              <a:srgbClr val="2F6F6B"/>
            </a:solidFill>
            <a:prstDash val="solid"/>
          </a:ln>
        </p:spPr>
      </p:sp>
      <p:sp>
        <p:nvSpPr>
          <p:cNvPr id="9" name="">
            <a:extLst xmlns:a="http://schemas.openxmlformats.org/drawingml/2006/main">
              <a:ext uri="{FF2B5EF4-FFF2-40B4-BE49-F238E27FC236}">
                <a16:creationId xmlns:a16="http://schemas.microsoft.com/office/drawing/2014/main" id="{F3A0530E-5BF5-4B06-9C5A-6B0EF6B5B1D6}"/>
              </a:ext>
            </a:extLst>
          </p:cNvPr>
          <p:cNvSpPr>
            <a:spLocks xmlns:a="http://schemas.openxmlformats.org/drawingml/2006/main" noGrp="1"/>
          </p:cNvSpPr>
          <p:nvPr/>
        </p:nvSpPr>
        <p:spPr>
          <a:xfrm xmlns:a="http://schemas.openxmlformats.org/drawingml/2006/main">
            <a:off x="4591050" y="2038350"/>
            <a:ext cx="295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850" b="1">
                <a:solidFill>
                  <a:srgbClr val="2F6F6B"/>
                </a:solidFill>
                <a:latin typeface="Helvetica Neue"/>
                <a:ea typeface="Helvetica Neue"/>
                <a:cs typeface="Helvetica Neue"/>
              </a:defRPr>
            </a:pPr>
            <a:r>
              <a:rPr sz="5850" b="1">
                <a:solidFill>
                  <a:srgbClr val="2F6F6B"/>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89FADCC1-86C8-4DC9-9B3C-A022E257B606}"/>
              </a:ext>
            </a:extLst>
          </p:cNvPr>
          <p:cNvSpPr>
            <a:spLocks xmlns:a="http://schemas.openxmlformats.org/drawingml/2006/main" noGrp="1"/>
          </p:cNvSpPr>
          <p:nvPr/>
        </p:nvSpPr>
        <p:spPr>
          <a:xfrm xmlns:a="http://schemas.openxmlformats.org/drawingml/2006/main">
            <a:off x="4591050" y="32385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71A18"/>
                </a:solidFill>
                <a:latin typeface="Helvetica Neue"/>
                <a:ea typeface="Helvetica Neue"/>
                <a:cs typeface="Helvetica Neue"/>
              </a:defRPr>
            </a:pPr>
            <a:r>
              <a:rPr sz="1875" b="1">
                <a:solidFill>
                  <a:srgbClr val="171A18"/>
                </a:solidFill>
                <a:latin typeface="Helvetica Neue"/>
                <a:ea typeface="Helvetica Neue"/>
                <a:cs typeface="Helvetica Neue"/>
              </a:rPr>
              <a:t>inspect the evidence</a:t>
            </a:r>
          </a:p>
        </p:txBody>
      </p:sp>
      <p:sp>
        <p:nvSpPr>
          <p:cNvPr id="11" name="">
            <a:extLst xmlns:a="http://schemas.openxmlformats.org/drawingml/2006/main">
              <a:ext uri="{FF2B5EF4-FFF2-40B4-BE49-F238E27FC236}">
                <a16:creationId xmlns:a16="http://schemas.microsoft.com/office/drawing/2014/main" id="{49D65EAC-EA34-4FB1-A7FF-140AB681D743}"/>
              </a:ext>
            </a:extLst>
          </p:cNvPr>
          <p:cNvSpPr>
            <a:spLocks xmlns:a="http://schemas.openxmlformats.org/drawingml/2006/main" noGrp="1"/>
          </p:cNvSpPr>
          <p:nvPr/>
        </p:nvSpPr>
        <p:spPr>
          <a:xfrm xmlns:a="http://schemas.openxmlformats.org/drawingml/2006/main">
            <a:off x="4591050" y="38481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676C68"/>
                </a:solidFill>
                <a:latin typeface="Helvetica Neue"/>
                <a:ea typeface="Helvetica Neue"/>
                <a:cs typeface="Helvetica Neue"/>
              </a:defRPr>
            </a:pPr>
            <a:r>
              <a:rPr sz="1350" b="0">
                <a:solidFill>
                  <a:srgbClr val="676C68"/>
                </a:solidFill>
                <a:latin typeface="Helvetica Neue"/>
                <a:ea typeface="Helvetica Neue"/>
                <a:cs typeface="Helvetica Neue"/>
              </a:rPr>
              <a:t>Open papers + artifacts</a:t>
            </a:r>
          </a:p>
        </p:txBody>
      </p:sp>
      <p:sp>
        <p:nvSpPr>
          <p:cNvPr id="12" name="">
            <a:extLst xmlns:a="http://schemas.openxmlformats.org/drawingml/2006/main">
              <a:ext uri="{FF2B5EF4-FFF2-40B4-BE49-F238E27FC236}">
                <a16:creationId xmlns:a16="http://schemas.microsoft.com/office/drawing/2014/main" id="{A2550D56-D976-4919-9DC5-4C35AC8118CA}"/>
              </a:ext>
            </a:extLst>
          </p:cNvPr>
          <p:cNvSpPr>
            <a:spLocks xmlns:a="http://schemas.openxmlformats.org/drawingml/2006/main" noGrp="1"/>
          </p:cNvSpPr>
          <p:nvPr/>
        </p:nvSpPr>
        <p:spPr>
          <a:xfrm xmlns:a="http://schemas.openxmlformats.org/drawingml/2006/main">
            <a:off x="8229600" y="1790700"/>
            <a:ext cx="3562350" cy="2724150"/>
          </a:xfrm>
          <a:prstGeom xmlns:a="http://schemas.openxmlformats.org/drawingml/2006/main" prst="roundRect">
            <a:avLst>
              <a:gd name="adj" fmla="val 4196"/>
            </a:avLst>
          </a:prstGeom>
          <a:solidFill xmlns:a="http://schemas.openxmlformats.org/drawingml/2006/main">
            <a:srgbClr val="F1F2EF"/>
          </a:solidFill>
          <a:ln xmlns:a="http://schemas.openxmlformats.org/drawingml/2006/main" w="9525">
            <a:solidFill>
              <a:srgbClr val="C8CDC8"/>
            </a:solidFill>
            <a:prstDash val="solid"/>
          </a:ln>
        </p:spPr>
      </p:sp>
      <p:sp>
        <p:nvSpPr>
          <p:cNvPr id="13" name="">
            <a:extLst xmlns:a="http://schemas.openxmlformats.org/drawingml/2006/main">
              <a:ext uri="{FF2B5EF4-FFF2-40B4-BE49-F238E27FC236}">
                <a16:creationId xmlns:a16="http://schemas.microsoft.com/office/drawing/2014/main" id="{11153B3F-1CA2-47E4-9CFA-E24177BB4B0D}"/>
              </a:ext>
            </a:extLst>
          </p:cNvPr>
          <p:cNvSpPr>
            <a:spLocks xmlns:a="http://schemas.openxmlformats.org/drawingml/2006/main" noGrp="1"/>
          </p:cNvSpPr>
          <p:nvPr/>
        </p:nvSpPr>
        <p:spPr>
          <a:xfrm xmlns:a="http://schemas.openxmlformats.org/drawingml/2006/main">
            <a:off x="8496300" y="2038350"/>
            <a:ext cx="295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850" b="1">
                <a:solidFill>
                  <a:srgbClr val="171A18"/>
                </a:solidFill>
                <a:latin typeface="Helvetica Neue"/>
                <a:ea typeface="Helvetica Neue"/>
                <a:cs typeface="Helvetica Neue"/>
              </a:defRPr>
            </a:pPr>
            <a:r>
              <a:rPr sz="5850" b="1">
                <a:solidFill>
                  <a:srgbClr val="171A18"/>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BA8BF93E-2F25-4775-B68A-36BC9C38DF3C}"/>
              </a:ext>
            </a:extLst>
          </p:cNvPr>
          <p:cNvSpPr>
            <a:spLocks xmlns:a="http://schemas.openxmlformats.org/drawingml/2006/main" noGrp="1"/>
          </p:cNvSpPr>
          <p:nvPr/>
        </p:nvSpPr>
        <p:spPr>
          <a:xfrm xmlns:a="http://schemas.openxmlformats.org/drawingml/2006/main">
            <a:off x="8496300" y="32385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71A18"/>
                </a:solidFill>
                <a:latin typeface="Helvetica Neue"/>
                <a:ea typeface="Helvetica Neue"/>
                <a:cs typeface="Helvetica Neue"/>
              </a:defRPr>
            </a:pPr>
            <a:r>
              <a:rPr sz="1875" b="1">
                <a:solidFill>
                  <a:srgbClr val="171A18"/>
                </a:solidFill>
                <a:latin typeface="Helvetica Neue"/>
                <a:ea typeface="Helvetica Neue"/>
                <a:cs typeface="Helvetica Neue"/>
              </a:rPr>
              <a:t>approve computation</a:t>
            </a:r>
          </a:p>
        </p:txBody>
      </p:sp>
      <p:sp>
        <p:nvSpPr>
          <p:cNvPr id="15" name="">
            <a:extLst xmlns:a="http://schemas.openxmlformats.org/drawingml/2006/main">
              <a:ext uri="{FF2B5EF4-FFF2-40B4-BE49-F238E27FC236}">
                <a16:creationId xmlns:a16="http://schemas.microsoft.com/office/drawing/2014/main" id="{4CFF925C-3CB0-4FB0-8F2C-D5C958155B1C}"/>
              </a:ext>
            </a:extLst>
          </p:cNvPr>
          <p:cNvSpPr>
            <a:spLocks xmlns:a="http://schemas.openxmlformats.org/drawingml/2006/main" noGrp="1"/>
          </p:cNvSpPr>
          <p:nvPr/>
        </p:nvSpPr>
        <p:spPr>
          <a:xfrm xmlns:a="http://schemas.openxmlformats.org/drawingml/2006/main">
            <a:off x="8496300" y="38481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676C68"/>
                </a:solidFill>
                <a:latin typeface="Helvetica Neue"/>
                <a:ea typeface="Helvetica Neue"/>
                <a:cs typeface="Helvetica Neue"/>
              </a:defRPr>
            </a:pPr>
            <a:r>
              <a:rPr sz="1350" b="0">
                <a:solidFill>
                  <a:srgbClr val="676C68"/>
                </a:solidFill>
                <a:latin typeface="Helvetica Neue"/>
                <a:ea typeface="Helvetica Neue"/>
                <a:cs typeface="Helvetica Neue"/>
              </a:rPr>
              <a:t>Choose models + review outputs</a:t>
            </a:r>
          </a:p>
        </p:txBody>
      </p:sp>
      <p:sp>
        <p:nvSpPr>
          <p:cNvPr id="16" name="">
            <a:extLst xmlns:a="http://schemas.openxmlformats.org/drawingml/2006/main">
              <a:ext uri="{FF2B5EF4-FFF2-40B4-BE49-F238E27FC236}">
                <a16:creationId xmlns:a16="http://schemas.microsoft.com/office/drawing/2014/main" id="{F3C27409-7981-4558-A1FF-BEF57AE8BA16}"/>
              </a:ext>
            </a:extLst>
          </p:cNvPr>
          <p:cNvSpPr>
            <a:spLocks xmlns:a="http://schemas.openxmlformats.org/drawingml/2006/main" noGrp="1"/>
          </p:cNvSpPr>
          <p:nvPr/>
        </p:nvSpPr>
        <p:spPr>
          <a:xfrm xmlns:a="http://schemas.openxmlformats.org/drawingml/2006/main">
            <a:off x="419100" y="49911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F6F6B"/>
                </a:solidFill>
                <a:latin typeface="Helvetica Neue"/>
                <a:ea typeface="Helvetica Neue"/>
                <a:cs typeface="Helvetica Neue"/>
              </a:defRPr>
            </a:pPr>
            <a:r>
              <a:rPr sz="1125" b="1">
                <a:solidFill>
                  <a:srgbClr val="2F6F6B"/>
                </a:solidFill>
                <a:latin typeface="Helvetica Neue"/>
                <a:ea typeface="Helvetica Neue"/>
                <a:cs typeface="Helvetica Neue"/>
              </a:rPr>
              <a:t>AUDIT TRAIL</a:t>
            </a:r>
          </a:p>
        </p:txBody>
      </p:sp>
      <p:sp>
        <p:nvSpPr>
          <p:cNvPr id="17" name="">
            <a:extLst xmlns:a="http://schemas.openxmlformats.org/drawingml/2006/main">
              <a:ext uri="{FF2B5EF4-FFF2-40B4-BE49-F238E27FC236}">
                <a16:creationId xmlns:a16="http://schemas.microsoft.com/office/drawing/2014/main" id="{D2F310DF-927D-488E-9097-978CB7A73FDD}"/>
              </a:ext>
            </a:extLst>
          </p:cNvPr>
          <p:cNvSpPr>
            <a:spLocks xmlns:a="http://schemas.openxmlformats.org/drawingml/2006/main" noGrp="1"/>
          </p:cNvSpPr>
          <p:nvPr/>
        </p:nvSpPr>
        <p:spPr>
          <a:xfrm xmlns:a="http://schemas.openxmlformats.org/drawingml/2006/main">
            <a:off x="419100" y="5391150"/>
            <a:ext cx="895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171A18"/>
                </a:solidFill>
                <a:latin typeface="Helvetica Neue"/>
                <a:ea typeface="Helvetica Neue"/>
                <a:cs typeface="Helvetica Neue"/>
              </a:defRPr>
            </a:pPr>
            <a:r>
              <a:rPr sz="1800" b="1">
                <a:solidFill>
                  <a:srgbClr val="171A18"/>
                </a:solidFill>
                <a:latin typeface="Helvetica Neue"/>
                <a:ea typeface="Helvetica Neue"/>
                <a:cs typeface="Helvetica Neue"/>
              </a:rPr>
              <a:t>Question · queries · papers · artifacts · model jobs · results</a:t>
            </a:r>
          </a:p>
        </p:txBody>
      </p:sp>
      <p:sp>
        <p:nvSpPr>
          <p:cNvPr id="18" name="">
            <a:extLst xmlns:a="http://schemas.openxmlformats.org/drawingml/2006/main">
              <a:ext uri="{FF2B5EF4-FFF2-40B4-BE49-F238E27FC236}">
                <a16:creationId xmlns:a16="http://schemas.microsoft.com/office/drawing/2014/main" id="{A36DA803-1537-4065-A402-CA691C4EC86E}"/>
              </a:ext>
            </a:extLst>
          </p:cNvPr>
          <p:cNvSpPr>
            <a:spLocks xmlns:a="http://schemas.openxmlformats.org/drawingml/2006/main" noGrp="1"/>
          </p:cNvSpPr>
          <p:nvPr/>
        </p:nvSpPr>
        <p:spPr>
          <a:xfrm xmlns:a="http://schemas.openxmlformats.org/drawingml/2006/main">
            <a:off x="419100" y="6019800"/>
            <a:ext cx="885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676C68"/>
                </a:solidFill>
                <a:latin typeface="Helvetica Neue"/>
                <a:ea typeface="Helvetica Neue"/>
                <a:cs typeface="Helvetica Neue"/>
              </a:defRPr>
            </a:pPr>
            <a:r>
              <a:rPr sz="1425" b="0">
                <a:solidFill>
                  <a:srgbClr val="676C68"/>
                </a:solidFill>
                <a:latin typeface="Helvetica Neue"/>
                <a:ea typeface="Helvetica Neue"/>
                <a:cs typeface="Helvetica Neue"/>
              </a:rPr>
              <a:t>Every handoff remains inspectable, reproducible, and reversible.</a:t>
            </a:r>
          </a:p>
        </p:txBody>
      </p:sp>
    </p:spTree>
    <p:extLst>
      <p:ext uri="{BB962C8B-B14F-4D97-AF65-F5344CB8AC3E}">
        <p14:creationId xmlns:p14="http://schemas.microsoft.com/office/powerpoint/2010/main" val="1725684982"/>
      </p:ext>
    </p:extLst>
  </p:cSld>
</p:sld>
</file>

<file path=ppt/slides/slide7.xml><?xml version="1.0" encoding="utf-8"?>
<p:sld xmlns:p="http://schemas.openxmlformats.org/presentationml/2006/main">
  <p:cSld>
    <p:bg>
      <p:bgPr>
        <a:solidFill xmlns:a="http://schemas.openxmlformats.org/drawingml/2006/main">
          <a:srgbClr val="2F6F6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FBCED5-E249-438E-B0F5-4B6BCA2C38E1}"/>
              </a:ext>
            </a:extLst>
          </p:cNvPr>
          <p:cNvSpPr>
            <a:spLocks xmlns:a="http://schemas.openxmlformats.org/drawingml/2006/main" noGrp="1"/>
          </p:cNvSpPr>
          <p:nvPr/>
        </p:nvSpPr>
        <p:spPr>
          <a:xfrm xmlns:a="http://schemas.openxmlformats.org/drawingml/2006/main">
            <a:off x="419100" y="3810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D7ECE8"/>
                </a:solidFill>
                <a:latin typeface="Helvetica Neue"/>
                <a:ea typeface="Helvetica Neue"/>
                <a:cs typeface="Helvetica Neue"/>
              </a:defRPr>
            </a:pPr>
            <a:r>
              <a:rPr sz="1200" b="1">
                <a:solidFill>
                  <a:srgbClr val="D7ECE8"/>
                </a:solidFill>
                <a:latin typeface="Helvetica Neue"/>
                <a:ea typeface="Helvetica Neue"/>
                <a:cs typeface="Helvetica Neue"/>
              </a:rPr>
              <a:t>RFPerfusion</a:t>
            </a:r>
          </a:p>
        </p:txBody>
      </p:sp>
      <p:sp>
        <p:nvSpPr>
          <p:cNvPr id="2" name="">
            <a:extLst xmlns:a="http://schemas.openxmlformats.org/drawingml/2006/main">
              <a:ext uri="{FF2B5EF4-FFF2-40B4-BE49-F238E27FC236}">
                <a16:creationId xmlns:a16="http://schemas.microsoft.com/office/drawing/2014/main" id="{BE717604-BA5E-48C7-AF57-F2307CBBBF86}"/>
              </a:ext>
            </a:extLst>
          </p:cNvPr>
          <p:cNvSpPr>
            <a:spLocks xmlns:a="http://schemas.openxmlformats.org/drawingml/2006/main" noGrp="1"/>
          </p:cNvSpPr>
          <p:nvPr/>
        </p:nvSpPr>
        <p:spPr>
          <a:xfrm xmlns:a="http://schemas.openxmlformats.org/drawingml/2006/main">
            <a:off x="419100" y="1390650"/>
            <a:ext cx="876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5700" b="1">
                <a:solidFill>
                  <a:srgbClr val="FFFFFF"/>
                </a:solidFill>
                <a:latin typeface="Helvetica Neue"/>
                <a:ea typeface="Helvetica Neue"/>
                <a:cs typeface="Helvetica Neue"/>
              </a:defRPr>
            </a:pPr>
            <a:r>
              <a:rPr sz="5700" b="1">
                <a:solidFill>
                  <a:srgbClr val="FFFFFF"/>
                </a:solidFill>
                <a:latin typeface="Helvetica Neue"/>
                <a:ea typeface="Helvetica Neue"/>
                <a:cs typeface="Helvetica Neue"/>
              </a:rPr>
              <a:t>Make the impossible.</a:t>
            </a:r>
          </a:p>
          <a:p xmlns:a="http://schemas.openxmlformats.org/drawingml/2006/main">
            <a:pPr algn="l">
              <a:buNone/>
              <a:defRPr sz="5700" b="1">
                <a:solidFill>
                  <a:srgbClr val="FFFFFF"/>
                </a:solidFill>
                <a:latin typeface="Helvetica Neue"/>
                <a:ea typeface="Helvetica Neue"/>
                <a:cs typeface="Helvetica Neue"/>
              </a:defRPr>
            </a:pPr>
            <a:r>
              <a:rPr sz="5700" b="1">
                <a:solidFill>
                  <a:srgbClr val="FFFFFF"/>
                </a:solidFill>
                <a:latin typeface="Helvetica Neue"/>
                <a:ea typeface="Helvetica Neue"/>
                <a:cs typeface="Helvetica Neue"/>
              </a:rPr>
              <a:t>Scientifically actionable.</a:t>
            </a:r>
          </a:p>
        </p:txBody>
      </p:sp>
      <p:sp>
        <p:nvSpPr>
          <p:cNvPr id="3" name="">
            <a:extLst xmlns:a="http://schemas.openxmlformats.org/drawingml/2006/main">
              <a:ext uri="{FF2B5EF4-FFF2-40B4-BE49-F238E27FC236}">
                <a16:creationId xmlns:a16="http://schemas.microsoft.com/office/drawing/2014/main" id="{3012C89E-FBA4-4017-9218-68C88BCA930C}"/>
              </a:ext>
            </a:extLst>
          </p:cNvPr>
          <p:cNvSpPr>
            <a:spLocks xmlns:a="http://schemas.openxmlformats.org/drawingml/2006/main" noGrp="1"/>
          </p:cNvSpPr>
          <p:nvPr/>
        </p:nvSpPr>
        <p:spPr>
          <a:xfrm xmlns:a="http://schemas.openxmlformats.org/drawingml/2006/main">
            <a:off x="419100" y="37909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550" b="1">
                <a:solidFill>
                  <a:srgbClr val="E8F3F1"/>
                </a:solidFill>
                <a:latin typeface="Helvetica Neue"/>
                <a:ea typeface="Helvetica Neue"/>
                <a:cs typeface="Helvetica Neue"/>
              </a:defRPr>
            </a:pPr>
            <a:r>
              <a:rPr sz="2550" b="1">
                <a:solidFill>
                  <a:srgbClr val="E8F3F1"/>
                </a:solidFill>
                <a:latin typeface="Helvetica Neue"/>
                <a:ea typeface="Helvetica Neue"/>
                <a:cs typeface="Helvetica Neue"/>
              </a:rPr>
              <a:t>Search, reason, and compute—with the scientist in control.</a:t>
            </a:r>
          </a:p>
        </p:txBody>
      </p:sp>
      <p:sp>
        <p:nvSpPr>
          <p:cNvPr id="4" name="">
            <a:extLst xmlns:a="http://schemas.openxmlformats.org/drawingml/2006/main">
              <a:ext uri="{FF2B5EF4-FFF2-40B4-BE49-F238E27FC236}">
                <a16:creationId xmlns:a16="http://schemas.microsoft.com/office/drawing/2014/main" id="{911FE7E0-1B15-4BAA-9BAD-A5BF72A65B79}"/>
              </a:ext>
            </a:extLst>
          </p:cNvPr>
          <p:cNvSpPr>
            <a:spLocks xmlns:a="http://schemas.openxmlformats.org/drawingml/2006/main" noGrp="1"/>
          </p:cNvSpPr>
          <p:nvPr/>
        </p:nvSpPr>
        <p:spPr>
          <a:xfrm xmlns:a="http://schemas.openxmlformats.org/drawingml/2006/main">
            <a:off x="419100" y="5048250"/>
            <a:ext cx="7905750" cy="781050"/>
          </a:xfrm>
          <a:prstGeom xmlns:a="http://schemas.openxmlformats.org/drawingml/2006/main" prst="roundRect">
            <a:avLst>
              <a:gd name="adj" fmla="val 14634"/>
            </a:avLst>
          </a:prstGeom>
          <a:solidFill xmlns:a="http://schemas.openxmlformats.org/drawingml/2006/main">
            <a:srgbClr val="171A18"/>
          </a:solidFill>
          <a:ln xmlns:a="http://schemas.openxmlformats.org/drawingml/2006/main" w="0">
            <a:solidFill>
              <a:srgbClr val="171A18"/>
            </a:solidFill>
            <a:prstDash val="solid"/>
          </a:ln>
        </p:spPr>
      </p:sp>
      <p:sp>
        <p:nvSpPr>
          <p:cNvPr id="5" name="">
            <a:extLst xmlns:a="http://schemas.openxmlformats.org/drawingml/2006/main">
              <a:ext uri="{FF2B5EF4-FFF2-40B4-BE49-F238E27FC236}">
                <a16:creationId xmlns:a16="http://schemas.microsoft.com/office/drawing/2014/main" id="{F920A35E-4B9E-4E7B-A0B6-27546EEB144B}"/>
              </a:ext>
            </a:extLst>
          </p:cNvPr>
          <p:cNvSpPr>
            <a:spLocks xmlns:a="http://schemas.openxmlformats.org/drawingml/2006/main" noGrp="1"/>
          </p:cNvSpPr>
          <p:nvPr/>
        </p:nvSpPr>
        <p:spPr>
          <a:xfrm xmlns:a="http://schemas.openxmlformats.org/drawingml/2006/main">
            <a:off x="723900" y="5267325"/>
            <a:ext cx="7296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Ask. Inspect. Redirect. Design.</a:t>
            </a:r>
          </a:p>
        </p:txBody>
      </p:sp>
      <p:sp>
        <p:nvSpPr>
          <p:cNvPr id="6" name="">
            <a:extLst xmlns:a="http://schemas.openxmlformats.org/drawingml/2006/main">
              <a:ext uri="{FF2B5EF4-FFF2-40B4-BE49-F238E27FC236}">
                <a16:creationId xmlns:a16="http://schemas.microsoft.com/office/drawing/2014/main" id="{3FF4F9BB-6A7F-4096-9260-A84EE22BAD1A}"/>
              </a:ext>
            </a:extLst>
          </p:cNvPr>
          <p:cNvSpPr>
            <a:spLocks xmlns:a="http://schemas.openxmlformats.org/drawingml/2006/main" noGrp="1"/>
          </p:cNvSpPr>
          <p:nvPr/>
        </p:nvSpPr>
        <p:spPr>
          <a:xfrm xmlns:a="http://schemas.openxmlformats.org/drawingml/2006/main">
            <a:off x="419100" y="6210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C0DBD6"/>
                </a:solidFill>
                <a:latin typeface="Helvetica Neue"/>
                <a:ea typeface="Helvetica Neue"/>
                <a:cs typeface="Helvetica Neue"/>
              </a:defRPr>
            </a:pPr>
            <a:r>
              <a:rPr sz="1050" b="0">
                <a:solidFill>
                  <a:srgbClr val="C0DBD6"/>
                </a:solidFill>
                <a:latin typeface="Helvetica Neue"/>
                <a:ea typeface="Helvetica Neue"/>
                <a:cs typeface="Helvetica Neue"/>
              </a:rPr>
              <a:t>re:AGENT Hackathon · Track C</a:t>
            </a:r>
          </a:p>
        </p:txBody>
      </p:sp>
      <p:sp>
        <p:nvSpPr>
          <p:cNvPr id="7" name="">
            <a:extLst xmlns:a="http://schemas.openxmlformats.org/drawingml/2006/main">
              <a:ext uri="{FF2B5EF4-FFF2-40B4-BE49-F238E27FC236}">
                <a16:creationId xmlns:a16="http://schemas.microsoft.com/office/drawing/2014/main" id="{270D707B-820B-48BC-AEF4-B97EDEC9E3B9}"/>
              </a:ext>
            </a:extLst>
          </p:cNvPr>
          <p:cNvSpPr>
            <a:spLocks xmlns:a="http://schemas.openxmlformats.org/drawingml/2006/main" noGrp="1"/>
          </p:cNvSpPr>
          <p:nvPr/>
        </p:nvSpPr>
        <p:spPr>
          <a:xfrm xmlns:a="http://schemas.openxmlformats.org/drawingml/2006/main">
            <a:off x="11258550" y="62103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C0DBD6"/>
                </a:solidFill>
                <a:latin typeface="Helvetica Neue"/>
                <a:ea typeface="Helvetica Neue"/>
                <a:cs typeface="Helvetica Neue"/>
              </a:defRPr>
            </a:pPr>
            <a:r>
              <a:rPr sz="1050" b="0">
                <a:solidFill>
                  <a:srgbClr val="C0DBD6"/>
                </a:solidFill>
                <a:latin typeface="Helvetica Neue"/>
                <a:ea typeface="Helvetica Neue"/>
                <a:cs typeface="Helvetica Neue"/>
              </a:rPr>
              <a:t>07</a:t>
            </a:r>
          </a:p>
        </p:txBody>
      </p:sp>
    </p:spTree>
    <p:extLst>
      <p:ext uri="{BB962C8B-B14F-4D97-AF65-F5344CB8AC3E}">
        <p14:creationId xmlns:p14="http://schemas.microsoft.com/office/powerpoint/2010/main" val="11724298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2026-08-16T03:23:07.5420000Z</dcterms:created>
  <dcterms:modified xsi:type="dcterms:W3CDTF">2026-08-16T03:23:07.5420000Z</dcterms:modified>
</coreProperties>
</file>